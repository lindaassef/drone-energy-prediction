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8" r:id="rId4"/>
    <p:sldMasterId id="2147483668" r:id="rId5"/>
    <p:sldMasterId id="2147483657" r:id="rId6"/>
  </p:sldMasterIdLst>
  <p:notesMasterIdLst>
    <p:notesMasterId r:id="rId37"/>
  </p:notesMasterIdLst>
  <p:handoutMasterIdLst>
    <p:handoutMasterId r:id="rId38"/>
  </p:handoutMasterIdLst>
  <p:sldIdLst>
    <p:sldId id="256" r:id="rId7"/>
    <p:sldId id="308" r:id="rId8"/>
    <p:sldId id="303" r:id="rId9"/>
    <p:sldId id="258" r:id="rId10"/>
    <p:sldId id="309" r:id="rId11"/>
    <p:sldId id="328" r:id="rId12"/>
    <p:sldId id="310" r:id="rId13"/>
    <p:sldId id="305" r:id="rId14"/>
    <p:sldId id="329" r:id="rId15"/>
    <p:sldId id="330" r:id="rId16"/>
    <p:sldId id="331" r:id="rId17"/>
    <p:sldId id="332" r:id="rId18"/>
    <p:sldId id="333" r:id="rId19"/>
    <p:sldId id="306" r:id="rId20"/>
    <p:sldId id="311" r:id="rId21"/>
    <p:sldId id="334" r:id="rId22"/>
    <p:sldId id="326" r:id="rId23"/>
    <p:sldId id="307" r:id="rId24"/>
    <p:sldId id="312" r:id="rId25"/>
    <p:sldId id="318" r:id="rId26"/>
    <p:sldId id="320" r:id="rId27"/>
    <p:sldId id="321" r:id="rId28"/>
    <p:sldId id="322" r:id="rId29"/>
    <p:sldId id="323" r:id="rId30"/>
    <p:sldId id="313" r:id="rId31"/>
    <p:sldId id="316" r:id="rId32"/>
    <p:sldId id="335" r:id="rId33"/>
    <p:sldId id="327" r:id="rId34"/>
    <p:sldId id="336" r:id="rId35"/>
    <p:sldId id="304" r:id="rId36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9"/>
    </p:embeddedFont>
    <p:embeddedFont>
      <p:font typeface="Source Sans Pro" panose="020B0503030403020204" pitchFamily="34" charset="0"/>
      <p:regular r:id="rId40"/>
      <p:bold r:id="rId41"/>
      <p:italic r:id="rId42"/>
      <p:boldItalic r:id="rId43"/>
    </p:embeddedFont>
    <p:embeddedFont>
      <p:font typeface="Source Sans Pro Black" panose="020B0803030403020204" pitchFamily="34" charset="0"/>
      <p:bold r:id="rId44"/>
      <p:italic r:id="rId45"/>
      <p:boldItalic r:id="rId46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AF6"/>
    <a:srgbClr val="FFFFFF"/>
    <a:srgbClr val="1321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F2695F-D87E-382D-80E4-8BA7F762A8C1}" v="150" dt="2026-04-08T14:10:21.963"/>
    <p1510:client id="{4AE2AA58-07ED-6540-6B61-C53A070AD759}" v="8" dt="2026-04-07T20:13:53.985"/>
    <p1510:client id="{65D400C8-562E-178A-31C0-6D15A25918E9}" v="614" dt="2026-04-08T13:15:14.935"/>
    <p1510:client id="{B63B45E1-62EA-B641-AC2C-CC51866AD9C9}" v="357" dt="2026-04-08T14:15:05.873"/>
    <p1510:client id="{DC09367C-D271-DDBD-9933-98D3E38A3778}" v="47" dt="2026-04-07T16:47:15.651"/>
    <p1510:client id="{ED379070-0DE6-E542-A19F-66ABB2AD6620}" v="1" dt="2026-04-08T12:16:19.9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F1AB2-1976-4502-BF36-3FF5EA218861}" styleName="Style moyen 4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/>
    <p:restoredTop sz="94691"/>
  </p:normalViewPr>
  <p:slideViewPr>
    <p:cSldViewPr snapToGrid="0">
      <p:cViewPr varScale="1">
        <p:scale>
          <a:sx n="137" d="100"/>
          <a:sy n="137" d="100"/>
        </p:scale>
        <p:origin x="18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font" Target="fonts/font1.fntdata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font" Target="fonts/font4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font" Target="fonts/font5.fntdata"/><Relationship Id="rId48" Type="http://schemas.openxmlformats.org/officeDocument/2006/relationships/viewProps" Target="viewProps.xml"/><Relationship Id="rId8" Type="http://schemas.openxmlformats.org/officeDocument/2006/relationships/slide" Target="slides/slide2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handoutMaster" Target="handoutMasters/handoutMaster1.xml"/><Relationship Id="rId46" Type="http://schemas.openxmlformats.org/officeDocument/2006/relationships/font" Target="fonts/font8.fntdata"/><Relationship Id="rId20" Type="http://schemas.openxmlformats.org/officeDocument/2006/relationships/slide" Target="slides/slide14.xml"/><Relationship Id="rId41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A1FE7B-5799-4BD5-9478-C6864C9BEFBE}" type="datetimeFigureOut">
              <a:rPr lang="fr-FR" smtClean="0"/>
              <a:t>12/09/2026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B38A01-DFAF-4609-8054-47B931FEEC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28044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FEB028-7FD4-47D5-98C7-4B192024BFF7}" type="datetimeFigureOut">
              <a:rPr lang="fr-FR" smtClean="0"/>
              <a:t>12/09/2026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DFFF74-3CCB-462C-8F95-639BB2BF66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9108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28696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6DE5C-2ED2-143F-BFEA-E849C729C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BB01904-92C8-458C-A1E3-0D6528C71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B44DC83-7664-588B-0001-5062175F8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936E847-E02D-7D50-856E-2728CBD508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6274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1745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24F6B-83FD-883E-8B24-C51C55CC7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80CB8C9-7690-1347-949C-C5450F377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98811FD-B0D8-4066-E28E-FA5154B289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DE595DF-B418-4472-948B-AA147DFB66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3400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5F9E9-FDDE-9A80-35AE-6E72F750F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3101A73-B14B-53F6-AB8B-BD96AEF0E7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3AF3B73-AF8D-5D37-3454-82ED0A41C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783A9A7-BE6F-D609-DBA9-2381EEC4F2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48789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E1A4E-A21E-F2F9-CB44-A13EAE07C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C822C2A-2E95-D95D-C866-0B5F62C87B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32B74431-0ECB-52A3-2AA2-34DF78A94B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1233570-E15A-7033-93DE-C774F24280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29348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AFF52-BAA1-871A-AED5-F1EFE5EC3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B46AE9B-1DF5-8E31-1B21-8DCFBB08E7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1834D9C2-F885-F202-2D55-7CA61DD77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7B86CCF-F72F-6935-26DA-700451A841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75446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3FF5D-EE4C-0440-524E-EB46BBA2A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D48A262-57F5-E567-065E-90A9CEA87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4F91F42-0921-1D4C-9C38-5E57FE1D08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88CDC3-EFA0-D31C-3F85-A265979E69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7809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E4C6E-0B7D-BF5D-708D-F77F01FAF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5CB8E42-31B6-366A-AF7D-719C9EBD8A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1AAEC66-375B-40ED-1125-D31CD8C6D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06AF68-BA82-FC78-9F3C-99F0020A23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86711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9AA0A-10E7-3C73-2C0B-A753EE9E0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2BE686F-0096-8146-CC7F-994BF240A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FF3C04A-C5E8-3B9D-132E-FB7DAAAF3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4932D4-3780-98BB-EB9F-A22C6EB05C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49644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14C13-0BE6-D9F9-B87D-D1264116E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22E8959-F0B4-0336-204C-51D548D6F5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6D3AEAE0-F602-E067-76DE-29D80F862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97E427E-EEA1-502E-8C46-E274986C20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70110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204AE-67C2-253E-F624-67751AB65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5B50733-15E2-E74D-A980-7846FF257E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2CA9BB33-99AB-B51C-FF03-252BAF1E94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49D81BA-D44D-225D-0502-0183B19FB6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92742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2869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67544" y="1598613"/>
            <a:ext cx="8208912" cy="104514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67544" y="2643758"/>
            <a:ext cx="8208912" cy="122413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fr-FR"/>
              <a:t>|          </a:t>
            </a:r>
            <a:r>
              <a:rPr lang="fr-FR" b="1"/>
              <a:t>ISAE-</a:t>
            </a:r>
            <a:r>
              <a:rPr lang="fr-FR" b="1" err="1"/>
              <a:t>Supméca</a:t>
            </a:r>
            <a:r>
              <a:rPr lang="fr-FR"/>
              <a:t> – Institut supérieur de mécanique de Paris          |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8408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>
                <a:solidFill>
                  <a:srgbClr val="F45F0C"/>
                </a:solidFill>
              </a:rPr>
              <a:t>|</a:t>
            </a:r>
            <a:r>
              <a:rPr lang="fr-FR">
                <a:solidFill>
                  <a:srgbClr val="F2F2F2"/>
                </a:solidFill>
              </a:rPr>
              <a:t>          </a:t>
            </a:r>
            <a:r>
              <a:rPr lang="fr-FR" b="1">
                <a:solidFill>
                  <a:schemeClr val="tx1">
                    <a:lumMod val="50000"/>
                  </a:schemeClr>
                </a:solidFill>
              </a:rPr>
              <a:t>ISAE-</a:t>
            </a:r>
            <a:r>
              <a:rPr lang="fr-FR" b="1" err="1">
                <a:solidFill>
                  <a:schemeClr val="tx1">
                    <a:lumMod val="50000"/>
                  </a:schemeClr>
                </a:solidFill>
              </a:rPr>
              <a:t>Supméca</a:t>
            </a:r>
            <a:r>
              <a:rPr lang="fr-FR">
                <a:solidFill>
                  <a:schemeClr val="tx1">
                    <a:lumMod val="50000"/>
                  </a:schemeClr>
                </a:solidFill>
              </a:rPr>
              <a:t> – Institut supérieur de mécanique de Paris          </a:t>
            </a:r>
            <a:r>
              <a:rPr lang="fr-FR">
                <a:solidFill>
                  <a:srgbClr val="F45F0C"/>
                </a:solidFill>
              </a:rPr>
              <a:t>|</a:t>
            </a:r>
            <a:endParaRPr lang="fr-FR">
              <a:solidFill>
                <a:srgbClr val="F2F2F2"/>
              </a:solidFill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775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67544" y="1597819"/>
            <a:ext cx="8208912" cy="10459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Sous-titre 2"/>
          <p:cNvSpPr>
            <a:spLocks noGrp="1"/>
          </p:cNvSpPr>
          <p:nvPr>
            <p:ph type="subTitle" idx="1"/>
          </p:nvPr>
        </p:nvSpPr>
        <p:spPr>
          <a:xfrm>
            <a:off x="467544" y="2643758"/>
            <a:ext cx="8208912" cy="122413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fr-FR"/>
              <a:t>|          </a:t>
            </a:r>
            <a:r>
              <a:rPr lang="fr-FR" b="1"/>
              <a:t>ISAE-</a:t>
            </a:r>
            <a:r>
              <a:rPr lang="fr-FR" b="1" err="1"/>
              <a:t>Supméca</a:t>
            </a:r>
            <a:r>
              <a:rPr lang="fr-FR"/>
              <a:t> – Institut supérieur de mécanique de Paris          |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7791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fr-FR"/>
              <a:t>|          </a:t>
            </a:r>
            <a:r>
              <a:rPr lang="fr-FR" b="1"/>
              <a:t>ISAE-</a:t>
            </a:r>
            <a:r>
              <a:rPr lang="fr-FR" b="1" err="1"/>
              <a:t>Supméca</a:t>
            </a:r>
            <a:r>
              <a:rPr lang="fr-FR"/>
              <a:t> – Institut supérieur de mécanique de Paris          |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6508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3307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59582"/>
            <a:ext cx="8229600" cy="3534643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</a:t>
            </a:r>
            <a:r>
              <a:rPr lang="fr-FR" b="1">
                <a:solidFill>
                  <a:srgbClr val="222A35"/>
                </a:solidFill>
              </a:rPr>
              <a:t> 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 b="1">
                <a:solidFill>
                  <a:srgbClr val="222A35"/>
                </a:solidFill>
              </a:rPr>
              <a:t> </a:t>
            </a:r>
            <a:r>
              <a:rPr lang="fr-FR">
                <a:solidFill>
                  <a:srgbClr val="222A35"/>
                </a:solidFill>
              </a:rPr>
              <a:t>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5891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</a:t>
            </a:r>
            <a:r>
              <a:rPr lang="fr-FR" b="1">
                <a:solidFill>
                  <a:srgbClr val="222A35"/>
                </a:solidFill>
              </a:rPr>
              <a:t> 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 b="1">
                <a:solidFill>
                  <a:srgbClr val="222A35"/>
                </a:solidFill>
              </a:rPr>
              <a:t> </a:t>
            </a:r>
            <a:r>
              <a:rPr lang="fr-FR">
                <a:solidFill>
                  <a:srgbClr val="222A35"/>
                </a:solidFill>
              </a:rPr>
              <a:t>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9624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1351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</a:t>
            </a:r>
            <a:r>
              <a:rPr lang="fr-FR" b="1">
                <a:solidFill>
                  <a:srgbClr val="222A35"/>
                </a:solidFill>
              </a:rPr>
              <a:t> 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 b="1">
                <a:solidFill>
                  <a:srgbClr val="222A35"/>
                </a:solidFill>
              </a:rPr>
              <a:t> </a:t>
            </a:r>
            <a:r>
              <a:rPr lang="fr-FR">
                <a:solidFill>
                  <a:srgbClr val="222A35"/>
                </a:solidFill>
              </a:rPr>
              <a:t>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423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82244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457200" y="4699906"/>
            <a:ext cx="8229600" cy="0"/>
          </a:xfrm>
          <a:prstGeom prst="line">
            <a:avLst/>
          </a:prstGeom>
          <a:ln w="127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e la date 3"/>
          <p:cNvSpPr txBox="1">
            <a:spLocks/>
          </p:cNvSpPr>
          <p:nvPr userDrawn="1"/>
        </p:nvSpPr>
        <p:spPr>
          <a:xfrm>
            <a:off x="457200" y="4746178"/>
            <a:ext cx="1378496" cy="273844"/>
          </a:xfrm>
          <a:prstGeom prst="rect">
            <a:avLst/>
          </a:prstGeom>
        </p:spPr>
        <p:txBody>
          <a:bodyPr lIns="0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bg2"/>
                </a:solidFill>
                <a:latin typeface="Source Sans Pro" panose="020B0503030403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Groupe ISAE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907704" y="4717133"/>
            <a:ext cx="5328592" cy="374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fr-FR"/>
              <a:t>|          </a:t>
            </a:r>
            <a:r>
              <a:rPr lang="fr-FR" b="1"/>
              <a:t>ISAE-</a:t>
            </a:r>
            <a:r>
              <a:rPr lang="fr-FR" b="1" err="1"/>
              <a:t>Supméca</a:t>
            </a:r>
            <a:r>
              <a:rPr lang="fr-FR"/>
              <a:t> – Institut supérieur de mécanique de Paris          |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6239910A-A7F2-4E32-AD7E-D217E3F3092B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56626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65" r:id="rId2"/>
    <p:sldLayoutId id="2147483667" r:id="rId3"/>
    <p:sldLayoutId id="2147483680" r:id="rId4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627534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691680" y="4767263"/>
            <a:ext cx="5760640" cy="274637"/>
          </a:xfrm>
          <a:prstGeom prst="rect">
            <a:avLst/>
          </a:prstGeom>
          <a:ln>
            <a:noFill/>
          </a:ln>
        </p:spPr>
        <p:txBody>
          <a:bodyPr vert="horz" lIns="0" tIns="45720" rIns="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7452320" y="4767263"/>
            <a:ext cx="1234480" cy="274637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400">
                <a:solidFill>
                  <a:srgbClr val="132133"/>
                </a:solidFill>
              </a:defRPr>
            </a:lvl1pPr>
          </a:lstStyle>
          <a:p>
            <a:fld id="{6189AD21-9F8B-47CF-9B2C-59971C9A1C69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8" name="Connecteur droit 7"/>
          <p:cNvCxnSpPr/>
          <p:nvPr userDrawn="1"/>
        </p:nvCxnSpPr>
        <p:spPr>
          <a:xfrm>
            <a:off x="457200" y="4659982"/>
            <a:ext cx="8229600" cy="0"/>
          </a:xfrm>
          <a:prstGeom prst="line">
            <a:avLst/>
          </a:prstGeom>
          <a:ln w="127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e la date 3"/>
          <p:cNvSpPr txBox="1">
            <a:spLocks/>
          </p:cNvSpPr>
          <p:nvPr userDrawn="1"/>
        </p:nvSpPr>
        <p:spPr>
          <a:xfrm>
            <a:off x="457200" y="4746178"/>
            <a:ext cx="1378496" cy="273844"/>
          </a:xfrm>
          <a:prstGeom prst="rect">
            <a:avLst/>
          </a:prstGeom>
        </p:spPr>
        <p:txBody>
          <a:bodyPr lIns="0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bg2"/>
                </a:solidFill>
                <a:latin typeface="Source Sans Pro" panose="020B0503030403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Groupe ISAE</a:t>
            </a:r>
          </a:p>
        </p:txBody>
      </p:sp>
    </p:spTree>
    <p:extLst>
      <p:ext uri="{BB962C8B-B14F-4D97-AF65-F5344CB8AC3E}">
        <p14:creationId xmlns:p14="http://schemas.microsoft.com/office/powerpoint/2010/main" val="76744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0" r:id="rId2"/>
    <p:sldLayoutId id="2147483672" r:id="rId3"/>
    <p:sldLayoutId id="2147483673" r:id="rId4"/>
    <p:sldLayoutId id="2147483675" r:id="rId5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251520" y="195487"/>
            <a:ext cx="8640960" cy="4608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55132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effectLst>
            <a:outerShdw blurRad="114300" algn="ctr" rotWithShape="0">
              <a:prstClr val="black">
                <a:alpha val="54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1</a:t>
            </a:fld>
            <a:endParaRPr lang="fr-FR"/>
          </a:p>
        </p:txBody>
      </p:sp>
      <p:sp>
        <p:nvSpPr>
          <p:cNvPr id="8" name="ZoneTexte 7"/>
          <p:cNvSpPr txBox="1"/>
          <p:nvPr/>
        </p:nvSpPr>
        <p:spPr>
          <a:xfrm>
            <a:off x="480835" y="2830333"/>
            <a:ext cx="4090889" cy="1200329"/>
          </a:xfrm>
          <a:prstGeom prst="rect">
            <a:avLst/>
          </a:prstGeom>
          <a:noFill/>
        </p:spPr>
        <p:txBody>
          <a:bodyPr wrap="square" lIns="0" rIns="0" rtlCol="0" anchor="ctr" anchorCtr="0">
            <a:spAutoFit/>
          </a:bodyPr>
          <a:lstStyle/>
          <a:p>
            <a:r>
              <a:rPr lang="fr-FR" sz="2400" cap="all">
                <a:solidFill>
                  <a:schemeClr val="bg2"/>
                </a:solidFill>
                <a:latin typeface="+mj-lt"/>
              </a:rPr>
              <a:t>Prédiction de la consommation énergétique d'un drone</a:t>
            </a:r>
          </a:p>
        </p:txBody>
      </p:sp>
      <p:cxnSp>
        <p:nvCxnSpPr>
          <p:cNvPr id="17" name="Connecteur droit 16"/>
          <p:cNvCxnSpPr/>
          <p:nvPr/>
        </p:nvCxnSpPr>
        <p:spPr>
          <a:xfrm>
            <a:off x="481111" y="2714328"/>
            <a:ext cx="2861990" cy="1438"/>
          </a:xfrm>
          <a:prstGeom prst="line">
            <a:avLst/>
          </a:prstGeom>
          <a:ln w="190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/>
          <p:cNvSpPr txBox="1"/>
          <p:nvPr/>
        </p:nvSpPr>
        <p:spPr>
          <a:xfrm>
            <a:off x="3896876" y="2160026"/>
            <a:ext cx="47795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/>
              <a:t>emplacement</a:t>
            </a:r>
            <a:br>
              <a:rPr lang="fr-FR"/>
            </a:br>
            <a:r>
              <a:rPr lang="fr-FR"/>
              <a:t>pour un visuel</a:t>
            </a:r>
            <a:br>
              <a:rPr lang="fr-FR"/>
            </a:br>
            <a:r>
              <a:rPr lang="fr-FR"/>
              <a:t>de couverture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111" y="100842"/>
            <a:ext cx="2924944" cy="21937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44AA91-7C34-F8EE-FF38-7AD515CB035D}"/>
              </a:ext>
            </a:extLst>
          </p:cNvPr>
          <p:cNvSpPr txBox="1"/>
          <p:nvPr/>
        </p:nvSpPr>
        <p:spPr>
          <a:xfrm>
            <a:off x="410196" y="4026166"/>
            <a:ext cx="2448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Linda Assef</a:t>
            </a:r>
          </a:p>
          <a:p>
            <a:r>
              <a:rPr lang="fr-FR"/>
              <a:t>Luc Pearson</a:t>
            </a:r>
          </a:p>
        </p:txBody>
      </p:sp>
      <p:pic>
        <p:nvPicPr>
          <p:cNvPr id="1026" name="Picture 2" descr="Aerobotics Drone Scan | High resolution aerial crop monitoring and analysis">
            <a:extLst>
              <a:ext uri="{FF2B5EF4-FFF2-40B4-BE49-F238E27FC236}">
                <a16:creationId xmlns:a16="http://schemas.microsoft.com/office/drawing/2014/main" id="{FA11324D-CCB0-D26A-DEB8-1B13213160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94"/>
          <a:stretch>
            <a:fillRect/>
          </a:stretch>
        </p:blipFill>
        <p:spPr bwMode="auto">
          <a:xfrm>
            <a:off x="4495117" y="932475"/>
            <a:ext cx="3433912" cy="272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8600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763EA-247C-2DF4-E962-A9C107CBF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>
            <a:extLst>
              <a:ext uri="{FF2B5EF4-FFF2-40B4-BE49-F238E27FC236}">
                <a16:creationId xmlns:a16="http://schemas.microsoft.com/office/drawing/2014/main" id="{E8CBE8CD-1C71-45B3-F17D-F9D1BE7A4FC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Sommaire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348BA6C9-1ADE-596D-6D55-0496377F8CAF}"/>
              </a:ext>
            </a:extLst>
          </p:cNvPr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441E2C4-506B-6F13-848B-7A334A760B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813E140-4F77-0678-0C30-DB4F2942DF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1CD1FC3-2F7B-497D-4EDD-0891C8758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470286"/>
            <a:ext cx="8569364" cy="3967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1- Introduction 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2000" b="0" i="0" u="none" strike="noStrike" cap="none" normalizeH="0" baseline="0">
                <a:ln>
                  <a:noFill/>
                </a:ln>
                <a:effectLst/>
              </a:rPr>
              <a:t>2- Chargement des données et description du </a:t>
            </a:r>
            <a:r>
              <a:rPr kumimoji="0" lang="fr-FR" altLang="fr-FR" sz="2000" b="0" i="0" u="none" strike="noStrike" cap="none" normalizeH="0" baseline="0" err="1">
                <a:ln>
                  <a:noFill/>
                </a:ln>
                <a:effectLst/>
              </a:rPr>
              <a:t>dataset</a:t>
            </a:r>
            <a:r>
              <a:rPr kumimoji="0" lang="fr-FR" altLang="fr-FR" sz="2000" b="0" i="0" u="none" strike="noStrike" cap="none" normalizeH="0" baseline="0">
                <a:ln>
                  <a:noFill/>
                </a:ln>
                <a:effectLst/>
              </a:rPr>
              <a:t> </a:t>
            </a:r>
            <a:endParaRPr lang="fr-FR" altLang="fr-FR" sz="2000" b="0" i="0" u="none" strike="noStrike" cap="none" normalizeH="0" baseline="0">
              <a:ln>
                <a:noFill/>
              </a:ln>
              <a:effectLst/>
              <a:ea typeface="Source Sans Pro"/>
            </a:endParaRP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3- Exploration et préparation des données 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4- Définition du problème d'apprentissage 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2000" b="0" i="0" u="none" strike="noStrike" cap="none" normalizeH="0" baseline="0">
                <a:ln>
                  <a:noFill/>
                </a:ln>
                <a:effectLst/>
                <a:cs typeface="Arial"/>
              </a:rPr>
              <a:t>5- Choix des modèles </a:t>
            </a:r>
            <a:r>
              <a:rPr lang="fr-FR" altLang="fr-FR" sz="2000">
                <a:cs typeface="Arial"/>
              </a:rPr>
              <a:t>d’entraînement</a:t>
            </a:r>
            <a:r>
              <a:rPr kumimoji="0" lang="fr-FR" altLang="fr-FR" sz="2000" b="0" i="0" u="none" strike="noStrike" cap="none" normalizeH="0" baseline="0">
                <a:ln>
                  <a:noFill/>
                </a:ln>
                <a:effectLst/>
                <a:cs typeface="Arial"/>
              </a:rPr>
              <a:t> et comparaison des modèles </a:t>
            </a:r>
            <a:endParaRPr lang="fr-FR" altLang="fr-FR" sz="2000" b="0" i="0" u="none" strike="noStrike" cap="none" normalizeH="0" baseline="0">
              <a:ln>
                <a:noFill/>
              </a:ln>
              <a:effectLst/>
              <a:ea typeface="Source Sans Pro"/>
              <a:cs typeface="Arial"/>
            </a:endParaRP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2000">
                <a:cs typeface="Arial"/>
              </a:rPr>
              <a:t>6- </a:t>
            </a:r>
            <a:r>
              <a:rPr kumimoji="0" lang="fr-FR" altLang="fr-FR" sz="2000" b="0" i="0" u="none" strike="noStrike" cap="none" normalizeH="0" baseline="0">
                <a:ln>
                  <a:noFill/>
                </a:ln>
                <a:effectLst/>
                <a:cs typeface="Arial"/>
              </a:rPr>
              <a:t>Conclusion </a:t>
            </a:r>
            <a:endParaRPr lang="fr-FR" altLang="fr-FR" sz="2000" b="0" i="0" u="none" strike="noStrike" cap="none" normalizeH="0" baseline="0">
              <a:ln>
                <a:noFill/>
              </a:ln>
              <a:effectLst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8073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95536" y="1851670"/>
            <a:ext cx="8208912" cy="1045145"/>
          </a:xfrm>
        </p:spPr>
        <p:txBody>
          <a:bodyPr>
            <a:normAutofit fontScale="90000"/>
          </a:bodyPr>
          <a:lstStyle/>
          <a:p>
            <a:r>
              <a:rPr lang="fr-FR"/>
              <a:t>1- Introduction </a:t>
            </a:r>
            <a:br>
              <a:rPr lang="fr-FR"/>
            </a:b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|          </a:t>
            </a:r>
            <a:r>
              <a:rPr lang="fr-FR" b="1"/>
              <a:t>ISAE-</a:t>
            </a:r>
            <a:r>
              <a:rPr lang="fr-FR" b="1" err="1"/>
              <a:t>Supméca</a:t>
            </a:r>
            <a:r>
              <a:rPr lang="fr-FR"/>
              <a:t> – Institut supérieur de mécanique de Paris          |</a:t>
            </a:r>
          </a:p>
        </p:txBody>
      </p:sp>
    </p:spTree>
    <p:extLst>
      <p:ext uri="{BB962C8B-B14F-4D97-AF65-F5344CB8AC3E}">
        <p14:creationId xmlns:p14="http://schemas.microsoft.com/office/powerpoint/2010/main" val="2294193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Présentation du sujet</a:t>
            </a:r>
          </a:p>
        </p:txBody>
      </p:sp>
      <p:cxnSp>
        <p:nvCxnSpPr>
          <p:cNvPr id="24" name="Connecteur droit 23"/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/>
          <p:cNvSpPr txBox="1"/>
          <p:nvPr/>
        </p:nvSpPr>
        <p:spPr>
          <a:xfrm>
            <a:off x="467544" y="874330"/>
            <a:ext cx="8219256" cy="3554819"/>
          </a:xfrm>
          <a:prstGeom prst="rect">
            <a:avLst/>
          </a:prstGeom>
          <a:noFill/>
        </p:spPr>
        <p:txBody>
          <a:bodyPr wrap="square" lIns="0" tIns="45720" rIns="91440" bIns="45720" numCol="1" rtlCol="0" anchor="t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/>
              <a:t>Nous avons à disposition un ensemble de données récoltés sur plusieurs vols de drone(données inertiels, vitesse du vent, consommation de la batterie).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200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/>
              <a:t>Ces vols ont été réalisés en faisant varier plusieurs paramètres tel que l’altitude, la charge, la route et la vitesse au sol.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2000" b="1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2000" b="1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b="1"/>
              <a:t>Objectif : </a:t>
            </a:r>
            <a:r>
              <a:rPr lang="fr-FR" sz="2000"/>
              <a:t>A partir du </a:t>
            </a:r>
            <a:r>
              <a:rPr lang="fr-FR" sz="2000" err="1"/>
              <a:t>dataset</a:t>
            </a:r>
            <a:r>
              <a:rPr lang="fr-FR" sz="2000"/>
              <a:t>, développer un modèle de prédiction de la consommation énergétique d’un drone quadricoptère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196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F5B5D-B31E-45A5-931E-CCED4740F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FFF5D2-448A-EA56-9DF9-3BAA5ABB9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/>
              <a:t>2- Chargement des données et description du </a:t>
            </a:r>
            <a:r>
              <a:rPr lang="fr-FR" err="1"/>
              <a:t>dataset</a:t>
            </a:r>
            <a:r>
              <a:rPr lang="fr-FR"/>
              <a:t>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5D83690-0F0F-9950-2EB9-AC303342C1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F140B60-2596-65D9-3284-8AB3AE6DCE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|          </a:t>
            </a:r>
            <a:r>
              <a:rPr lang="fr-FR" b="1"/>
              <a:t>ISAE-</a:t>
            </a:r>
            <a:r>
              <a:rPr lang="fr-FR" b="1" err="1"/>
              <a:t>Supméca</a:t>
            </a:r>
            <a:r>
              <a:rPr lang="fr-FR"/>
              <a:t> – Institut supérieur de mécanique de Paris          |</a:t>
            </a:r>
          </a:p>
        </p:txBody>
      </p:sp>
    </p:spTree>
    <p:extLst>
      <p:ext uri="{BB962C8B-B14F-4D97-AF65-F5344CB8AC3E}">
        <p14:creationId xmlns:p14="http://schemas.microsoft.com/office/powerpoint/2010/main" val="3247462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5465EB-619D-78FE-DAD3-071C446B0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Dataset</a:t>
            </a:r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EC3D3CC-F52C-EE58-241A-7F810ECEBD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</a:t>
            </a:r>
            <a:r>
              <a:rPr lang="fr-FR" b="1">
                <a:solidFill>
                  <a:srgbClr val="222A35"/>
                </a:solidFill>
              </a:rPr>
              <a:t> ISAE-Supméca </a:t>
            </a:r>
            <a:r>
              <a:rPr lang="fr-FR">
                <a:solidFill>
                  <a:srgbClr val="222A35"/>
                </a:solidFill>
              </a:rPr>
              <a:t>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22D0931-FF81-8018-D934-11D34205BD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1FA0C1C-CA10-4F1D-A788-958609838B6A}"/>
              </a:ext>
            </a:extLst>
          </p:cNvPr>
          <p:cNvSpPr txBox="1"/>
          <p:nvPr/>
        </p:nvSpPr>
        <p:spPr>
          <a:xfrm>
            <a:off x="5436096" y="111210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/>
              <a:t>257896 </a:t>
            </a:r>
            <a:r>
              <a:rPr lang="fr-FR" sz="1400" err="1"/>
              <a:t>rows</a:t>
            </a:r>
            <a:r>
              <a:rPr lang="fr-FR" sz="1400"/>
              <a:t> × 28 </a:t>
            </a:r>
            <a:r>
              <a:rPr lang="fr-FR" sz="1400" err="1"/>
              <a:t>columns</a:t>
            </a:r>
            <a:endParaRPr lang="fr-FR" sz="140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A30B0A2-7A1A-3DF5-1ED9-3B13B2E40B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77" b="4277"/>
          <a:stretch/>
        </p:blipFill>
        <p:spPr>
          <a:xfrm>
            <a:off x="0" y="1904456"/>
            <a:ext cx="5501806" cy="79294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7FC5F1F-EB34-C1B8-56CE-67ABD3FC24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1" t="8947" b="8947"/>
          <a:stretch/>
        </p:blipFill>
        <p:spPr>
          <a:xfrm>
            <a:off x="5501806" y="1904457"/>
            <a:ext cx="3595068" cy="792942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A6E4B3F4-A429-D377-D5ED-EC7969C5CDC0}"/>
              </a:ext>
            </a:extLst>
          </p:cNvPr>
          <p:cNvSpPr txBox="1"/>
          <p:nvPr/>
        </p:nvSpPr>
        <p:spPr>
          <a:xfrm>
            <a:off x="323528" y="682188"/>
            <a:ext cx="65527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/>
              <a:t>Le </a:t>
            </a:r>
            <a:r>
              <a:rPr lang="fr-FR" sz="1400" err="1"/>
              <a:t>dataset</a:t>
            </a:r>
            <a:r>
              <a:rPr lang="fr-FR" sz="1400"/>
              <a:t> est composé de deux fichiers :</a:t>
            </a:r>
          </a:p>
          <a:p>
            <a:endParaRPr lang="fr-FR" sz="1400"/>
          </a:p>
          <a:p>
            <a:r>
              <a:rPr lang="fr-FR" sz="1400"/>
              <a:t>    flights.csv : données temporelles enregistrées pendant les vols</a:t>
            </a:r>
          </a:p>
          <a:p>
            <a:endParaRPr lang="fr-FR" sz="140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3066821-4BAB-06DB-52FD-A6ED3E8182D8}"/>
              </a:ext>
            </a:extLst>
          </p:cNvPr>
          <p:cNvSpPr txBox="1"/>
          <p:nvPr/>
        </p:nvSpPr>
        <p:spPr>
          <a:xfrm>
            <a:off x="4796682" y="2951975"/>
            <a:ext cx="50053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/>
              <a:t>209 </a:t>
            </a:r>
            <a:r>
              <a:rPr lang="fr-FR" sz="1400" err="1"/>
              <a:t>rows</a:t>
            </a:r>
            <a:r>
              <a:rPr lang="fr-FR" sz="1400"/>
              <a:t> × 7 </a:t>
            </a:r>
            <a:r>
              <a:rPr lang="fr-FR" sz="1400" err="1"/>
              <a:t>columns</a:t>
            </a:r>
            <a:endParaRPr lang="fr-FR" sz="140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CFFB13C2-E4C7-4DE8-15CA-6DC1BCF427C2}"/>
              </a:ext>
            </a:extLst>
          </p:cNvPr>
          <p:cNvSpPr txBox="1"/>
          <p:nvPr/>
        </p:nvSpPr>
        <p:spPr>
          <a:xfrm>
            <a:off x="467544" y="2949941"/>
            <a:ext cx="5039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/>
              <a:t>parameters.csv : paramètres globaux des vols 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4ABF47DB-80EF-4F1B-8161-DF13EBD0D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3435846"/>
            <a:ext cx="4296375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880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458CC-B207-0987-8E36-EC0C0420A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112732-25AD-01F9-BE94-2C74505C2B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/>
              <a:t>3- Exploration et préparation des données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D8EB903-335E-9CFC-86AB-AED0318900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7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68D2D68-1181-5952-7328-B7EAC26B8A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|          </a:t>
            </a:r>
            <a:r>
              <a:rPr lang="fr-FR" b="1"/>
              <a:t>ISAE-</a:t>
            </a:r>
            <a:r>
              <a:rPr lang="fr-FR" b="1" err="1"/>
              <a:t>Supméca</a:t>
            </a:r>
            <a:r>
              <a:rPr lang="fr-FR"/>
              <a:t> – Institut supérieur de mécanique de Paris          |</a:t>
            </a:r>
          </a:p>
        </p:txBody>
      </p:sp>
    </p:spTree>
    <p:extLst>
      <p:ext uri="{BB962C8B-B14F-4D97-AF65-F5344CB8AC3E}">
        <p14:creationId xmlns:p14="http://schemas.microsoft.com/office/powerpoint/2010/main" val="2777194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EFEF6-5C9E-C889-1B73-D0EDB5C18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>
            <a:extLst>
              <a:ext uri="{FF2B5EF4-FFF2-40B4-BE49-F238E27FC236}">
                <a16:creationId xmlns:a16="http://schemas.microsoft.com/office/drawing/2014/main" id="{F21F3C0A-17BC-F5A6-A2BE-9E622F05ED3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Analyse des données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BF22FDEA-A0F8-0629-F5CD-0E48339D458D}"/>
              </a:ext>
            </a:extLst>
          </p:cNvPr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6D84272C-98FF-8909-86FA-508384237070}"/>
              </a:ext>
            </a:extLst>
          </p:cNvPr>
          <p:cNvSpPr txBox="1"/>
          <p:nvPr/>
        </p:nvSpPr>
        <p:spPr>
          <a:xfrm>
            <a:off x="467544" y="874330"/>
            <a:ext cx="8219256" cy="3708708"/>
          </a:xfrm>
          <a:prstGeom prst="rect">
            <a:avLst/>
          </a:prstGeom>
          <a:noFill/>
        </p:spPr>
        <p:txBody>
          <a:bodyPr wrap="square" lIns="0" numCol="1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2000" b="1"/>
              <a:t>On réalise dans un premier temps ces opérations: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/>
              <a:t>Vérification de valeurs manquantes (aucune valeurs manquantes)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200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/>
              <a:t>Création d’une variable « puissance » à partir des variables intensité et tension de la batterie et suppression de  ces dernières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200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/>
              <a:t>Pour les valeurs d’altitude sous forme de chaîne, remplacement par la valeur moyenne. Exemple: 25-50-75 par la moyenne 75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200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/>
              <a:t>Encodage des routes: R1 —&gt;1 , R2 —&gt;2….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A9EF5F7A-0E75-1F02-4AC0-D4F386B03D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6877EEB-1A7D-BDBF-5BED-38DF95ED24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3553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FF640B-E7F4-6A1A-3E4B-09728A6C5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Visualisation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CA6B102-9712-0D52-DE4D-BCF849D28E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</a:t>
            </a:r>
            <a:r>
              <a:rPr lang="fr-FR" b="1">
                <a:solidFill>
                  <a:srgbClr val="222A35"/>
                </a:solidFill>
              </a:rPr>
              <a:t> ISAE-Supméca </a:t>
            </a:r>
            <a:r>
              <a:rPr lang="fr-FR">
                <a:solidFill>
                  <a:srgbClr val="222A35"/>
                </a:solidFill>
              </a:rPr>
              <a:t>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2230562-02DC-091A-1517-C7200737BE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9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C23FC80-7F36-B84A-4F7D-9106290CB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627534"/>
            <a:ext cx="5296639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856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3F5B65-1B6B-E5F3-546E-3084AFACD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Visualisation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47DE6D7-54B4-34C0-B76A-E54773708B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</a:t>
            </a:r>
            <a:r>
              <a:rPr lang="fr-FR" b="1">
                <a:solidFill>
                  <a:srgbClr val="222A35"/>
                </a:solidFill>
              </a:rPr>
              <a:t> ISAE-Supméca </a:t>
            </a:r>
            <a:r>
              <a:rPr lang="fr-FR">
                <a:solidFill>
                  <a:srgbClr val="222A35"/>
                </a:solidFill>
              </a:rPr>
              <a:t>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DA9F982-98F7-2C4C-4294-F6B19B4272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10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50F8A6C-208C-3DAA-B9B2-821FB1923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609209"/>
            <a:ext cx="2894285" cy="193989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05B11E0-80A8-088C-213A-5D9E56718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2086" y="620892"/>
            <a:ext cx="2962997" cy="195085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0F0AFD6-6876-4225-F4B7-A0EE4191A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334" y="2560067"/>
            <a:ext cx="5614459" cy="181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963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08B51C-8EB6-365C-0F3E-27BE29921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Visualisation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DBC85E-E382-0B69-830E-1DE32E501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627534"/>
            <a:ext cx="8229600" cy="3534643"/>
          </a:xfrm>
        </p:spPr>
        <p:txBody>
          <a:bodyPr>
            <a:normAutofit/>
          </a:bodyPr>
          <a:lstStyle/>
          <a:p>
            <a:r>
              <a:rPr lang="fr-FR" sz="1400"/>
              <a:t>Pour le vol 1 s'il y'a une corrélation entre la puissance et les autres variables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88934D9-EBCA-F850-FEF4-D5084602D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</a:t>
            </a:r>
            <a:r>
              <a:rPr lang="fr-FR" b="1">
                <a:solidFill>
                  <a:srgbClr val="222A35"/>
                </a:solidFill>
              </a:rPr>
              <a:t> ISAE-Supméca </a:t>
            </a:r>
            <a:r>
              <a:rPr lang="fr-FR">
                <a:solidFill>
                  <a:srgbClr val="222A35"/>
                </a:solidFill>
              </a:rPr>
              <a:t>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36677CB-3615-F7CD-57A3-3DC4C00296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11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ACC080F-280E-B101-D0C2-5EA6130B76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05" t="1976"/>
          <a:stretch/>
        </p:blipFill>
        <p:spPr>
          <a:xfrm>
            <a:off x="1676531" y="915566"/>
            <a:ext cx="6336704" cy="371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36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B87E14-49D7-2973-D69C-58284D9E7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Visualisation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94B0F1-8AEA-8190-0096-1D57EC810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856" y="533007"/>
            <a:ext cx="8229600" cy="3534643"/>
          </a:xfrm>
        </p:spPr>
        <p:txBody>
          <a:bodyPr>
            <a:normAutofit/>
          </a:bodyPr>
          <a:lstStyle/>
          <a:p>
            <a:r>
              <a:rPr lang="fr-FR" sz="1400"/>
              <a:t>La route H encodée en par 11 par exemple pour voir une s'il y'a une corrélation entre la puissance et les autres variables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6F6CB3D-9596-9913-0296-8FCEBC8A26F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</a:t>
            </a:r>
            <a:r>
              <a:rPr lang="fr-FR" b="1">
                <a:solidFill>
                  <a:srgbClr val="222A35"/>
                </a:solidFill>
              </a:rPr>
              <a:t> ISAE-Supméca </a:t>
            </a:r>
            <a:r>
              <a:rPr lang="fr-FR">
                <a:solidFill>
                  <a:srgbClr val="222A35"/>
                </a:solidFill>
              </a:rPr>
              <a:t>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B3BD656-66B7-54AA-8D7A-A89C291221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12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4B941FC-184B-14E4-3F7C-6F0ED7C5B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596" y="928540"/>
            <a:ext cx="6434868" cy="36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768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15D00F-D342-7E3B-32D3-CF9309DA9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50" y="101600"/>
            <a:ext cx="8229600" cy="627534"/>
          </a:xfrm>
        </p:spPr>
        <p:txBody>
          <a:bodyPr/>
          <a:lstStyle/>
          <a:p>
            <a:r>
              <a:rPr lang="fr-FR" err="1"/>
              <a:t>Feature</a:t>
            </a:r>
            <a:r>
              <a:rPr lang="fr-FR"/>
              <a:t> engineering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480BC7-00E4-6736-66BA-AB274FFEB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750" y="783494"/>
            <a:ext cx="8707395" cy="1514863"/>
          </a:xfrm>
        </p:spPr>
        <p:txBody>
          <a:bodyPr/>
          <a:lstStyle/>
          <a:p>
            <a:r>
              <a:rPr lang="fr-FR" sz="1600"/>
              <a:t>Suppression des variables inutiles à la résolution du problème: Time, date, </a:t>
            </a:r>
            <a:r>
              <a:rPr lang="fr-FR" sz="1600" err="1"/>
              <a:t>time_day</a:t>
            </a:r>
            <a:r>
              <a:rPr lang="fr-FR" sz="1600"/>
              <a:t>, flight</a:t>
            </a:r>
          </a:p>
          <a:p>
            <a:r>
              <a:rPr lang="fr-FR" sz="1600"/>
              <a:t>Remplacement de </a:t>
            </a:r>
            <a:r>
              <a:rPr lang="fr-FR" sz="1600" err="1"/>
              <a:t>velocity_x</a:t>
            </a:r>
            <a:r>
              <a:rPr lang="fr-FR" sz="1600"/>
              <a:t>,</a:t>
            </a:r>
            <a:r>
              <a:rPr lang="fr-FR" sz="1600" b="1" i="0">
                <a:solidFill>
                  <a:srgbClr val="000000"/>
                </a:solidFill>
                <a:effectLst/>
              </a:rPr>
              <a:t> </a:t>
            </a:r>
            <a:r>
              <a:rPr lang="fr-FR" sz="1600" err="1"/>
              <a:t>velocity_y</a:t>
            </a:r>
            <a:r>
              <a:rPr lang="fr-FR" sz="1600"/>
              <a:t> et </a:t>
            </a:r>
            <a:r>
              <a:rPr lang="fr-FR" sz="1600" err="1"/>
              <a:t>velocity_z</a:t>
            </a:r>
            <a:r>
              <a:rPr lang="fr-FR" sz="1600"/>
              <a:t> par la </a:t>
            </a:r>
            <a:r>
              <a:rPr lang="fr-FR" sz="1600">
                <a:solidFill>
                  <a:srgbClr val="000000"/>
                </a:solidFill>
                <a:effectLst/>
              </a:rPr>
              <a:t>Vitesse Totale</a:t>
            </a:r>
            <a:r>
              <a:rPr lang="fr-FR" sz="1600" b="1" i="0">
                <a:solidFill>
                  <a:srgbClr val="000000"/>
                </a:solidFill>
                <a:effectLst/>
              </a:rPr>
              <a:t>:</a:t>
            </a:r>
          </a:p>
          <a:p>
            <a:endParaRPr lang="fr-FR" sz="1600"/>
          </a:p>
          <a:p>
            <a:endParaRPr lang="fr-FR" sz="1600"/>
          </a:p>
          <a:p>
            <a:r>
              <a:rPr lang="fr-FR" sz="1600"/>
              <a:t>Création d’une nouvelle colonne </a:t>
            </a:r>
            <a:r>
              <a:rPr lang="fr-FR" sz="1600" err="1"/>
              <a:t>velocity</a:t>
            </a:r>
            <a:r>
              <a:rPr lang="fr-FR" sz="1600"/>
              <a:t>.</a:t>
            </a:r>
          </a:p>
          <a:p>
            <a:endParaRPr lang="fr-FR" sz="1400"/>
          </a:p>
          <a:p>
            <a:pPr marL="0" indent="0">
              <a:buNone/>
            </a:pPr>
            <a:endParaRPr lang="fr-FR" sz="1400"/>
          </a:p>
          <a:p>
            <a:pPr marL="0" indent="0">
              <a:buNone/>
            </a:pPr>
            <a:endParaRPr lang="fr-FR" sz="140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DBC33B9-097D-CA10-520C-0D60EA99D6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</a:t>
            </a:r>
            <a:r>
              <a:rPr lang="fr-FR" b="1">
                <a:solidFill>
                  <a:srgbClr val="222A35"/>
                </a:solidFill>
              </a:rPr>
              <a:t> ISAE-Supméca </a:t>
            </a:r>
            <a:r>
              <a:rPr lang="fr-FR">
                <a:solidFill>
                  <a:srgbClr val="222A35"/>
                </a:solidFill>
              </a:rPr>
              <a:t>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D1C7C19-3A7F-8FD9-7442-F35189744D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13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FAB5831-AF0A-AFD7-448F-C5D7BB450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988" y="1411028"/>
            <a:ext cx="4256467" cy="33539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56304F0-AC42-D15C-AEAF-88F7704FFCD9}"/>
              </a:ext>
            </a:extLst>
          </p:cNvPr>
          <p:cNvSpPr txBox="1"/>
          <p:nvPr/>
        </p:nvSpPr>
        <p:spPr>
          <a:xfrm>
            <a:off x="457200" y="2644022"/>
            <a:ext cx="8332573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/>
              <a:t>Nous allons retenir ces variables comme étant les plus pertinentes: </a:t>
            </a:r>
            <a:r>
              <a:rPr lang="fr-FR" sz="1600" err="1"/>
              <a:t>wind_speed,wind_angle</a:t>
            </a:r>
            <a:r>
              <a:rPr lang="fr-FR" sz="1600"/>
              <a:t>,</a:t>
            </a:r>
          </a:p>
          <a:p>
            <a:r>
              <a:rPr lang="fr-FR" sz="1600" err="1"/>
              <a:t>orientation_x,orientation_y,orientation_z,orientation_w</a:t>
            </a:r>
            <a:r>
              <a:rPr lang="fr-FR" sz="1600"/>
              <a:t>, </a:t>
            </a:r>
            <a:r>
              <a:rPr lang="fr-FR" sz="1600" err="1"/>
              <a:t>velocity,angular_x,angular_y</a:t>
            </a:r>
            <a:r>
              <a:rPr lang="fr-FR" sz="1600"/>
              <a:t>,</a:t>
            </a:r>
          </a:p>
          <a:p>
            <a:r>
              <a:rPr lang="fr-FR" sz="1600" err="1"/>
              <a:t>angular_z</a:t>
            </a:r>
            <a:r>
              <a:rPr lang="fr-FR" sz="1600"/>
              <a:t>, linear_acceleration_x,linear_acceleration_y,linear_acceleration_z,speed,</a:t>
            </a:r>
          </a:p>
          <a:p>
            <a:r>
              <a:rPr lang="fr-FR" sz="1600" err="1"/>
              <a:t>payload,altitude,route</a:t>
            </a:r>
            <a:r>
              <a:rPr lang="fr-FR" sz="1600"/>
              <a:t>, </a:t>
            </a:r>
            <a:r>
              <a:rPr lang="fr-FR" sz="1600" err="1"/>
              <a:t>position_x</a:t>
            </a:r>
            <a:r>
              <a:rPr lang="fr-FR" sz="1600"/>
              <a:t>, </a:t>
            </a:r>
            <a:r>
              <a:rPr lang="fr-FR" sz="1600" err="1"/>
              <a:t>position_y</a:t>
            </a:r>
            <a:r>
              <a:rPr lang="fr-FR" sz="1600"/>
              <a:t>, </a:t>
            </a:r>
            <a:r>
              <a:rPr lang="fr-FR" sz="1600" err="1"/>
              <a:t>position_z</a:t>
            </a:r>
            <a:endParaRPr lang="fr-FR" sz="1600"/>
          </a:p>
          <a:p>
            <a:endParaRPr lang="fr-FR" sz="1600"/>
          </a:p>
          <a:p>
            <a:r>
              <a:rPr lang="fr-FR" sz="1600"/>
              <a:t>257896 </a:t>
            </a:r>
            <a:r>
              <a:rPr lang="fr-FR" sz="1600" err="1"/>
              <a:t>rows</a:t>
            </a:r>
            <a:r>
              <a:rPr lang="fr-FR" sz="1600"/>
              <a:t> × 21 </a:t>
            </a:r>
            <a:r>
              <a:rPr lang="fr-FR" sz="1600" err="1"/>
              <a:t>columns</a:t>
            </a:r>
            <a:endParaRPr lang="fr-FR" sz="1600"/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2944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E44F7-43E6-951E-FCAE-E663BCEC1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>
            <a:extLst>
              <a:ext uri="{FF2B5EF4-FFF2-40B4-BE49-F238E27FC236}">
                <a16:creationId xmlns:a16="http://schemas.microsoft.com/office/drawing/2014/main" id="{490F5E77-7575-96C0-240A-A242A2C6B39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Préparation des données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A6E6B95C-0D0D-EF1B-9BB0-0915A87E3F99}"/>
              </a:ext>
            </a:extLst>
          </p:cNvPr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3D2DB296-2F42-01E1-21BD-6CB351988FC9}"/>
              </a:ext>
            </a:extLst>
          </p:cNvPr>
          <p:cNvSpPr txBox="1"/>
          <p:nvPr/>
        </p:nvSpPr>
        <p:spPr>
          <a:xfrm>
            <a:off x="467544" y="874330"/>
            <a:ext cx="8219256" cy="2323713"/>
          </a:xfrm>
          <a:prstGeom prst="rect">
            <a:avLst/>
          </a:prstGeom>
          <a:noFill/>
        </p:spPr>
        <p:txBody>
          <a:bodyPr wrap="square" lIns="0" numCol="1" rtlCol="0">
            <a:spAutoFit/>
          </a:bodyPr>
          <a:lstStyle/>
          <a:p>
            <a:pPr>
              <a:spcAft>
                <a:spcPts val="600"/>
              </a:spcAft>
            </a:pPr>
            <a:endParaRPr lang="fr-FR" sz="2000" b="1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/>
              <a:t>Séparation en set d’entraînement et set de test (70/30)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2000"/>
          </a:p>
          <a:p>
            <a:pPr>
              <a:spcAft>
                <a:spcPts val="600"/>
              </a:spcAft>
            </a:pPr>
            <a:endParaRPr lang="fr-FR" sz="200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200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/>
              <a:t>Normalisation des données (StandardScaler)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84FF27EC-7A4E-3DE8-2C0D-1BFC2D1482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BF9D9BB-E870-C364-3C39-C165D7A43B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14</a:t>
            </a:fld>
            <a:endParaRPr lang="fr-FR"/>
          </a:p>
        </p:txBody>
      </p:sp>
      <p:pic>
        <p:nvPicPr>
          <p:cNvPr id="4" name="Image 3" descr="Une image contenant Police, texte, capture d’écran, blanc&#10;&#10;Le contenu généré par l’IA peut être incorrect.">
            <a:extLst>
              <a:ext uri="{FF2B5EF4-FFF2-40B4-BE49-F238E27FC236}">
                <a16:creationId xmlns:a16="http://schemas.microsoft.com/office/drawing/2014/main" id="{4E29F6DA-29C2-7804-499D-84A8516BD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0365" y="2571329"/>
            <a:ext cx="1933575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715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0047E-E213-59ED-19A0-17A98DEE1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559323-4395-000C-4EA5-F386C071FC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/>
              <a:t>4- Définition du problème d'apprentissage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1C1795E-43E7-9618-13AD-585877698B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15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83FCF0C-DAB0-AC74-649C-B03CA204A8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|          </a:t>
            </a:r>
            <a:r>
              <a:rPr lang="fr-FR" b="1"/>
              <a:t>ISAE-</a:t>
            </a:r>
            <a:r>
              <a:rPr lang="fr-FR" b="1" err="1"/>
              <a:t>Supméca</a:t>
            </a:r>
            <a:r>
              <a:rPr lang="fr-FR"/>
              <a:t> – Institut supérieur de mécanique de Paris          |</a:t>
            </a:r>
          </a:p>
        </p:txBody>
      </p:sp>
    </p:spTree>
    <p:extLst>
      <p:ext uri="{BB962C8B-B14F-4D97-AF65-F5344CB8AC3E}">
        <p14:creationId xmlns:p14="http://schemas.microsoft.com/office/powerpoint/2010/main" val="3539493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4529BA-1980-DA4D-C307-649AA7748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ea typeface="Source Sans Pro Black"/>
              </a:rPr>
              <a:t>Problème d'apprentissage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111531-35AE-9A77-D36C-C7E062C52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075" y="1059582"/>
            <a:ext cx="8506725" cy="353464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fr-FR"/>
              <a:t>Problème d’apprentissage supervisé de type régression.</a:t>
            </a:r>
          </a:p>
          <a:p>
            <a:endParaRPr lang="fr-FR"/>
          </a:p>
          <a:p>
            <a:r>
              <a:rPr lang="fr-FR"/>
              <a:t>Variables d’entrée : paramètres de vol tels que position_x,position_y,position_z,wind_speed,wind_angle,orientation_x,orientation_y,orientation_z,orientation_w,velocity,angular_x,angular_y,angular_z, linear_acceleration_x,linear_acceleration_y,linear_acceleration_z,speed,payload,altitude,route.</a:t>
            </a:r>
            <a:endParaRPr lang="fr-FR">
              <a:ea typeface="Source Sans Pro"/>
            </a:endParaRPr>
          </a:p>
          <a:p>
            <a:r>
              <a:rPr lang="fr-FR"/>
              <a:t>Variable de sortie : puissance</a:t>
            </a:r>
          </a:p>
          <a:p>
            <a:endParaRPr lang="fr-FR"/>
          </a:p>
          <a:p>
            <a:r>
              <a:rPr lang="fr-FR"/>
              <a:t>L’objectif est d’entraîner un modèle permettant de prédire la puissance donc la consommation énergétique à partir des variables d’entrée.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A4C2D54-365E-6370-3042-7F53B4C184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</a:t>
            </a:r>
            <a:r>
              <a:rPr lang="fr-FR" b="1">
                <a:solidFill>
                  <a:srgbClr val="222A35"/>
                </a:solidFill>
              </a:rPr>
              <a:t> ISAE-Supméca </a:t>
            </a:r>
            <a:r>
              <a:rPr lang="fr-FR">
                <a:solidFill>
                  <a:srgbClr val="222A35"/>
                </a:solidFill>
              </a:rPr>
              <a:t>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CA05DEB-9C28-0142-8C3A-72A93EEA88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7041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0047E-E213-59ED-19A0-17A98DEE1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559323-4395-000C-4EA5-F386C071FC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544" y="1203599"/>
            <a:ext cx="8208912" cy="1440160"/>
          </a:xfrm>
        </p:spPr>
        <p:txBody>
          <a:bodyPr>
            <a:normAutofit fontScale="90000"/>
          </a:bodyPr>
          <a:lstStyle/>
          <a:p>
            <a:r>
              <a:rPr lang="fr-FR"/>
              <a:t>5- Choix des modèles d’entraînement et comparaison des modèles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A71B85B-7305-1D58-D121-2F458B10BA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888" y="3039405"/>
            <a:ext cx="8208912" cy="1224136"/>
          </a:xfrm>
        </p:spPr>
        <p:txBody>
          <a:bodyPr/>
          <a:lstStyle/>
          <a:p>
            <a:r>
              <a:rPr lang="fr-FR"/>
              <a:t>Choix des modèles d’apprentissage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1C1795E-43E7-9618-13AD-585877698B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17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83FCF0C-DAB0-AC74-649C-B03CA204A8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|          </a:t>
            </a:r>
            <a:r>
              <a:rPr lang="fr-FR" b="1"/>
              <a:t>ISAE-</a:t>
            </a:r>
            <a:r>
              <a:rPr lang="fr-FR" b="1" err="1"/>
              <a:t>Supméca</a:t>
            </a:r>
            <a:r>
              <a:rPr lang="fr-FR"/>
              <a:t> – Institut supérieur de mécanique de Paris          |</a:t>
            </a:r>
          </a:p>
        </p:txBody>
      </p:sp>
    </p:spTree>
    <p:extLst>
      <p:ext uri="{BB962C8B-B14F-4D97-AF65-F5344CB8AC3E}">
        <p14:creationId xmlns:p14="http://schemas.microsoft.com/office/powerpoint/2010/main" val="259119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170E0-3155-DE0C-1914-8F99B4ABE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>
            <a:extLst>
              <a:ext uri="{FF2B5EF4-FFF2-40B4-BE49-F238E27FC236}">
                <a16:creationId xmlns:a16="http://schemas.microsoft.com/office/drawing/2014/main" id="{521E8E65-14BB-E800-4667-D27068CC726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Choix des modèles d’apprentissage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AE93C797-50F0-0189-BEE9-1C54095B04CC}"/>
              </a:ext>
            </a:extLst>
          </p:cNvPr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0E8475CB-5F65-1DB2-3113-CF2916510A4B}"/>
              </a:ext>
            </a:extLst>
          </p:cNvPr>
          <p:cNvSpPr txBox="1"/>
          <p:nvPr/>
        </p:nvSpPr>
        <p:spPr>
          <a:xfrm>
            <a:off x="467544" y="874330"/>
            <a:ext cx="8219256" cy="2708434"/>
          </a:xfrm>
          <a:prstGeom prst="rect">
            <a:avLst/>
          </a:prstGeom>
          <a:noFill/>
        </p:spPr>
        <p:txBody>
          <a:bodyPr wrap="square" lIns="0" tIns="45720" rIns="91440" bIns="45720" numCol="1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fr-FR" sz="2000" b="1"/>
              <a:t>Nous avons choisi d’entraîner 5 modèles différents :</a:t>
            </a:r>
          </a:p>
          <a:p>
            <a:pPr>
              <a:spcAft>
                <a:spcPts val="600"/>
              </a:spcAft>
            </a:pPr>
            <a:endParaRPr lang="fr-FR" sz="2000" b="1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/>
              <a:t>Régression linéaire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/>
              <a:t>Régression polynomiale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/>
              <a:t>Réseaux de neurones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/>
              <a:t>Random forest</a:t>
            </a:r>
            <a:endParaRPr lang="en-GB" sz="2000">
              <a:ea typeface="Source Sans Pro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/>
              <a:t>SVR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D21F1519-A941-272F-BE3A-851E42A332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A27F717-BB55-B488-8FE0-F06AB68413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28970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2EA45-AE3F-7E8A-0BA0-D750E26FE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C48C61-D2DD-DCCB-B875-0C66ACAA97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/>
              <a:t>5- Choix des modèles d’entraînement et comparaison des modèles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43544DE-601F-559E-FE01-9267EBC246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809" y="3116830"/>
            <a:ext cx="8208912" cy="1224136"/>
          </a:xfrm>
        </p:spPr>
        <p:txBody>
          <a:bodyPr/>
          <a:lstStyle/>
          <a:p>
            <a:r>
              <a:rPr lang="fr-FR"/>
              <a:t>Entraînement des modèles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90DF9E5-2DFF-BD37-7573-6341799207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19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F34E98E-9191-CB8D-D995-D0DFD2A715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|          </a:t>
            </a:r>
            <a:r>
              <a:rPr lang="fr-FR" b="1"/>
              <a:t>ISAE-</a:t>
            </a:r>
            <a:r>
              <a:rPr lang="fr-FR" b="1" err="1"/>
              <a:t>Supméca</a:t>
            </a:r>
            <a:r>
              <a:rPr lang="fr-FR"/>
              <a:t> – Institut supérieur de mécanique de Paris          |</a:t>
            </a:r>
          </a:p>
        </p:txBody>
      </p:sp>
    </p:spTree>
    <p:extLst>
      <p:ext uri="{BB962C8B-B14F-4D97-AF65-F5344CB8AC3E}">
        <p14:creationId xmlns:p14="http://schemas.microsoft.com/office/powerpoint/2010/main" val="23586283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013E5-85FD-E7EE-2310-FC5F88489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>
            <a:extLst>
              <a:ext uri="{FF2B5EF4-FFF2-40B4-BE49-F238E27FC236}">
                <a16:creationId xmlns:a16="http://schemas.microsoft.com/office/drawing/2014/main" id="{0FD12C37-793C-D2B1-5E18-E3F7700E7F1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Entraînement des modèles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23C0F4C-26A1-D64D-03C5-35690BE46C2A}"/>
              </a:ext>
            </a:extLst>
          </p:cNvPr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A19DC19E-F40E-51B3-BAE8-966DD10CA97A}"/>
                  </a:ext>
                </a:extLst>
              </p:cNvPr>
              <p:cNvSpPr txBox="1"/>
              <p:nvPr/>
            </p:nvSpPr>
            <p:spPr>
              <a:xfrm>
                <a:off x="467544" y="874330"/>
                <a:ext cx="8219256" cy="2292935"/>
              </a:xfrm>
              <a:prstGeom prst="rect">
                <a:avLst/>
              </a:prstGeom>
              <a:noFill/>
            </p:spPr>
            <p:txBody>
              <a:bodyPr wrap="square" lIns="0" numCol="1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fr-FR" sz="2000" b="1"/>
                  <a:t>Régression linéaire</a:t>
                </a:r>
              </a:p>
              <a:p>
                <a:r>
                  <a:rPr lang="fr-FR" sz="2000"/>
                  <a:t>Principe : Chercher à modéliser une relation linéaire entre les variables d’entrée et la sortie. Le modèle tente de trouver la droite qui minimise l’erreur entre les prédictions et les vraies valeurs</a:t>
                </a:r>
              </a:p>
              <a:p>
                <a:endParaRPr lang="fr-FR" sz="2000"/>
              </a:p>
              <a:p>
                <a:r>
                  <a:rPr lang="fr-FR" sz="2000"/>
                  <a:t>Équation de la forme : </a:t>
                </a:r>
                <a14:m>
                  <m:oMath xmlns:m="http://schemas.openxmlformats.org/officeDocument/2006/math">
                    <m:r>
                      <a:rPr lang="fr-FR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fr-FR" sz="200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fr-FR" sz="2000"/>
              </a:p>
              <a:p>
                <a:endParaRPr lang="fr-FR"/>
              </a:p>
            </p:txBody>
          </p:sp>
        </mc:Choice>
        <mc:Fallback xmlns="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A19DC19E-F40E-51B3-BAE8-966DD10CA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874330"/>
                <a:ext cx="8219256" cy="2292935"/>
              </a:xfrm>
              <a:prstGeom prst="rect">
                <a:avLst/>
              </a:prstGeom>
              <a:blipFill>
                <a:blip r:embed="rId3"/>
                <a:stretch>
                  <a:fillRect l="-1929" t="-15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D60F3D70-1B8E-0574-8485-8307E81EA9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CC75D06-291D-512D-2D80-4199FD6AB1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4531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A7C24-3455-4C94-0620-6B6EA6FDD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>
            <a:extLst>
              <a:ext uri="{FF2B5EF4-FFF2-40B4-BE49-F238E27FC236}">
                <a16:creationId xmlns:a16="http://schemas.microsoft.com/office/drawing/2014/main" id="{E11C7064-57F8-366D-5437-1517890B2F8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Entraînement des modèles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C857BE69-EB90-31B9-6622-71CCCF7A6AF6}"/>
              </a:ext>
            </a:extLst>
          </p:cNvPr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31E991F4-0E82-FF71-B3E0-CE6023396F50}"/>
              </a:ext>
            </a:extLst>
          </p:cNvPr>
          <p:cNvSpPr txBox="1"/>
          <p:nvPr/>
        </p:nvSpPr>
        <p:spPr>
          <a:xfrm>
            <a:off x="467544" y="874330"/>
            <a:ext cx="8219256" cy="400110"/>
          </a:xfrm>
          <a:prstGeom prst="rect">
            <a:avLst/>
          </a:prstGeom>
          <a:noFill/>
        </p:spPr>
        <p:txBody>
          <a:bodyPr wrap="square" lIns="0" numCol="1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2000" b="1"/>
              <a:t>Régression polynomiale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B8838163-23FE-5355-DF4A-7FEEB33C2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AD27C6A-A8D6-237F-114A-A679B5FB3D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21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72CD2C9-81DD-FF9C-8BEA-38C978903E72}"/>
              </a:ext>
            </a:extLst>
          </p:cNvPr>
          <p:cNvSpPr txBox="1"/>
          <p:nvPr/>
        </p:nvSpPr>
        <p:spPr>
          <a:xfrm>
            <a:off x="739393" y="3038638"/>
            <a:ext cx="623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Degrés choisis pour notre problème : 2 et 3</a:t>
            </a:r>
            <a:endParaRPr lang="ar-AE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1C47F09-C3F9-B923-7831-38A304C384A7}"/>
              </a:ext>
            </a:extLst>
          </p:cNvPr>
          <p:cNvSpPr txBox="1"/>
          <p:nvPr/>
        </p:nvSpPr>
        <p:spPr>
          <a:xfrm>
            <a:off x="701716" y="2029187"/>
            <a:ext cx="8210790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On </a:t>
            </a:r>
            <a:r>
              <a:rPr lang="en-US" err="1"/>
              <a:t>cherche</a:t>
            </a:r>
            <a:r>
              <a:rPr lang="en-US"/>
              <a:t> à identifier les  </a:t>
            </a:r>
            <a:r>
              <a:rPr lang="en-US" err="1"/>
              <a:t>valeurs</a:t>
            </a:r>
            <a:r>
              <a:rPr lang="en-US"/>
              <a:t> des coefficients du </a:t>
            </a:r>
            <a:r>
              <a:rPr lang="en-US" err="1"/>
              <a:t>polynôme</a:t>
            </a:r>
            <a:r>
              <a:rPr lang="en-US"/>
              <a:t> </a:t>
            </a:r>
            <a:r>
              <a:rPr lang="en-US" err="1"/>
              <a:t>afin</a:t>
            </a:r>
            <a:r>
              <a:rPr lang="en-US"/>
              <a:t> de </a:t>
            </a:r>
            <a:r>
              <a:rPr lang="en-US" err="1"/>
              <a:t>correspondre</a:t>
            </a:r>
            <a:r>
              <a:rPr lang="en-US"/>
              <a:t> au </a:t>
            </a:r>
            <a:r>
              <a:rPr lang="en-US" err="1"/>
              <a:t>mieux</a:t>
            </a:r>
            <a:r>
              <a:rPr lang="en-US"/>
              <a:t> aux données. On </a:t>
            </a:r>
            <a:r>
              <a:rPr lang="en-US" err="1"/>
              <a:t>calcule</a:t>
            </a:r>
            <a:r>
              <a:rPr lang="en-US"/>
              <a:t> ensuite la </a:t>
            </a:r>
            <a:r>
              <a:rPr lang="en-US" err="1"/>
              <a:t>somme</a:t>
            </a:r>
            <a:r>
              <a:rPr lang="en-US"/>
              <a:t> de </a:t>
            </a:r>
            <a:r>
              <a:rPr lang="en-US" err="1"/>
              <a:t>l'erreur</a:t>
            </a:r>
            <a:r>
              <a:rPr lang="en-US"/>
              <a:t> </a:t>
            </a:r>
            <a:r>
              <a:rPr lang="en-US" err="1"/>
              <a:t>quadratique</a:t>
            </a:r>
            <a:r>
              <a:rPr lang="en-US"/>
              <a:t> et on </a:t>
            </a:r>
            <a:r>
              <a:rPr lang="en-US" err="1"/>
              <a:t>essaye</a:t>
            </a:r>
            <a:r>
              <a:rPr lang="en-US"/>
              <a:t> de la minimiser.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216F3A45-5AA8-573D-791A-CB5ECA7D69AB}"/>
                  </a:ext>
                </a:extLst>
              </p:cNvPr>
              <p:cNvSpPr txBox="1"/>
              <p:nvPr/>
            </p:nvSpPr>
            <p:spPr>
              <a:xfrm>
                <a:off x="739393" y="1360561"/>
                <a:ext cx="55236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/>
                  <a:t>Equation de la forme :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+...+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fr-FR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216F3A45-5AA8-573D-791A-CB5ECA7D6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393" y="1360561"/>
                <a:ext cx="5523692" cy="369332"/>
              </a:xfrm>
              <a:prstGeom prst="rect">
                <a:avLst/>
              </a:prstGeom>
              <a:blipFill>
                <a:blip r:embed="rId3"/>
                <a:stretch>
                  <a:fillRect l="-883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95800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FD0C4-5EFA-F1EF-74EF-125717BE5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>
            <a:extLst>
              <a:ext uri="{FF2B5EF4-FFF2-40B4-BE49-F238E27FC236}">
                <a16:creationId xmlns:a16="http://schemas.microsoft.com/office/drawing/2014/main" id="{C6A0947B-E904-70EC-4788-FF225F8B155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Entraînement des modèles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FF6280FC-E802-45AD-41AA-88501D0EFFF4}"/>
              </a:ext>
            </a:extLst>
          </p:cNvPr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EB4FF26A-9DFD-BF83-32AF-043B854E9670}"/>
              </a:ext>
            </a:extLst>
          </p:cNvPr>
          <p:cNvSpPr txBox="1"/>
          <p:nvPr/>
        </p:nvSpPr>
        <p:spPr>
          <a:xfrm>
            <a:off x="467544" y="874330"/>
            <a:ext cx="8219256" cy="3400931"/>
          </a:xfrm>
          <a:prstGeom prst="rect">
            <a:avLst/>
          </a:prstGeom>
          <a:noFill/>
        </p:spPr>
        <p:txBody>
          <a:bodyPr wrap="square" lIns="0" numCol="1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2000" b="1"/>
              <a:t>Réseaux de neurones MLP</a:t>
            </a:r>
          </a:p>
          <a:p>
            <a:r>
              <a:rPr lang="fr-FR" sz="2000"/>
              <a:t>Principe :</a:t>
            </a:r>
          </a:p>
          <a:p>
            <a:r>
              <a:rPr lang="fr-FR" sz="2000"/>
              <a:t>-Structure couches de neurones (entrée → couches cachées → sortie)</a:t>
            </a:r>
          </a:p>
          <a:p>
            <a:endParaRPr lang="fr-FR" sz="2000"/>
          </a:p>
          <a:p>
            <a:r>
              <a:rPr lang="fr-FR" sz="2000"/>
              <a:t>-Le réseau apprend en ajustant ses poids via la rétropropagation (</a:t>
            </a:r>
            <a:r>
              <a:rPr lang="fr-FR" sz="2000" err="1"/>
              <a:t>backpropagation</a:t>
            </a:r>
            <a:r>
              <a:rPr lang="fr-FR" sz="2000"/>
              <a:t>)</a:t>
            </a:r>
          </a:p>
          <a:p>
            <a:pPr>
              <a:spcAft>
                <a:spcPts val="600"/>
              </a:spcAft>
            </a:pPr>
            <a:endParaRPr lang="fr-FR" sz="2000"/>
          </a:p>
          <a:p>
            <a:pPr>
              <a:spcAft>
                <a:spcPts val="600"/>
              </a:spcAft>
            </a:pPr>
            <a:r>
              <a:rPr lang="fr-FR" sz="2000" err="1"/>
              <a:t>MLPRegressor</a:t>
            </a:r>
            <a:r>
              <a:rPr lang="fr-FR" sz="2000"/>
              <a:t>:</a:t>
            </a:r>
          </a:p>
          <a:p>
            <a:pPr>
              <a:spcAft>
                <a:spcPts val="600"/>
              </a:spcAft>
            </a:pPr>
            <a:r>
              <a:rPr lang="fr-FR" sz="2000" err="1"/>
              <a:t>hidden_layer_sizes</a:t>
            </a:r>
            <a:r>
              <a:rPr lang="fr-FR" sz="2000"/>
              <a:t>=(128,64,32), activation='relu', solver='</a:t>
            </a:r>
            <a:r>
              <a:rPr lang="fr-FR" sz="2000" err="1"/>
              <a:t>adam</a:t>
            </a:r>
            <a:r>
              <a:rPr lang="fr-FR" sz="2000"/>
              <a:t>', </a:t>
            </a:r>
            <a:r>
              <a:rPr lang="fr-FR" sz="2000" err="1"/>
              <a:t>max_iter</a:t>
            </a:r>
            <a:r>
              <a:rPr lang="fr-FR" sz="2000"/>
              <a:t>=200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4CDA8608-8DC5-928C-7CCF-5FE7D1BC60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D58C786-E33C-F63C-196A-EDD9F35CA7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41174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D6827-3CD6-ECE8-2904-41774C777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>
            <a:extLst>
              <a:ext uri="{FF2B5EF4-FFF2-40B4-BE49-F238E27FC236}">
                <a16:creationId xmlns:a16="http://schemas.microsoft.com/office/drawing/2014/main" id="{01B91309-7618-3EB6-77F4-4650EDFF4EB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Entraînement des modèles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4378963-E575-C149-819E-FF6CC4BFC2EF}"/>
              </a:ext>
            </a:extLst>
          </p:cNvPr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1C8153E6-644D-FE7A-BDA2-4AD3F3D792EC}"/>
              </a:ext>
            </a:extLst>
          </p:cNvPr>
          <p:cNvSpPr txBox="1"/>
          <p:nvPr/>
        </p:nvSpPr>
        <p:spPr>
          <a:xfrm>
            <a:off x="467544" y="874330"/>
            <a:ext cx="8219256" cy="3308598"/>
          </a:xfrm>
          <a:prstGeom prst="rect">
            <a:avLst/>
          </a:prstGeom>
          <a:noFill/>
        </p:spPr>
        <p:txBody>
          <a:bodyPr wrap="square" lIns="0" tIns="45720" rIns="91440" bIns="45720" numCol="1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fr-FR" sz="2000" b="1" err="1"/>
              <a:t>Random</a:t>
            </a:r>
            <a:r>
              <a:rPr lang="fr-FR" sz="2000" b="1"/>
              <a:t> </a:t>
            </a:r>
            <a:r>
              <a:rPr lang="fr-FR" sz="2000" b="1" err="1"/>
              <a:t>forest</a:t>
            </a:r>
            <a:endParaRPr lang="fr-FR" sz="2000" b="1"/>
          </a:p>
          <a:p>
            <a:r>
              <a:rPr lang="fr-FR" sz="1600"/>
              <a:t>Ensemble de plusieurs arbres de décision.</a:t>
            </a:r>
          </a:p>
          <a:p>
            <a:r>
              <a:rPr lang="fr-FR" sz="1600"/>
              <a:t>Principe : </a:t>
            </a:r>
          </a:p>
          <a:p>
            <a:r>
              <a:rPr lang="fr-FR" sz="1600"/>
              <a:t>On construit plusieurs arbres sur des sous-échantillons aléatoires des données. Chaque arbre fait une prédiction, puis on calcule la moyenne. </a:t>
            </a:r>
            <a:endParaRPr lang="fr-FR" sz="1600">
              <a:ea typeface="Source Sans Pro"/>
            </a:endParaRPr>
          </a:p>
          <a:p>
            <a:endParaRPr lang="fr-FR" sz="1600"/>
          </a:p>
          <a:p>
            <a:r>
              <a:rPr lang="fr-FR" sz="1600" err="1"/>
              <a:t>RandomForestRegressor</a:t>
            </a:r>
            <a:r>
              <a:rPr lang="fr-FR" sz="1600"/>
              <a:t>: </a:t>
            </a:r>
          </a:p>
          <a:p>
            <a:endParaRPr lang="fr-FR" sz="2000"/>
          </a:p>
          <a:p>
            <a:endParaRPr lang="fr-FR" sz="2000"/>
          </a:p>
          <a:p>
            <a:r>
              <a:rPr lang="fr-FR" sz="1600" err="1"/>
              <a:t>hk</a:t>
            </a:r>
            <a:r>
              <a:rPr lang="fr-FR" sz="1600"/>
              <a:t>​(x) est la prédiction du k-</a:t>
            </a:r>
            <a:r>
              <a:rPr lang="fr-FR" sz="1600" err="1"/>
              <a:t>ième</a:t>
            </a:r>
            <a:r>
              <a:rPr lang="fr-FR" sz="1600"/>
              <a:t> arbre.</a:t>
            </a:r>
          </a:p>
          <a:p>
            <a:r>
              <a:rPr lang="fr-FR" sz="1600"/>
              <a:t>K=</a:t>
            </a:r>
            <a:r>
              <a:rPr lang="fr-FR" sz="1600" err="1"/>
              <a:t>n_estimators</a:t>
            </a:r>
            <a:r>
              <a:rPr lang="fr-FR" sz="1600"/>
              <a:t>=500, </a:t>
            </a:r>
            <a:r>
              <a:rPr lang="fr-FR" sz="1600" err="1"/>
              <a:t>max_depth</a:t>
            </a:r>
            <a:r>
              <a:rPr lang="fr-FR" sz="1600"/>
              <a:t>=None, </a:t>
            </a:r>
            <a:r>
              <a:rPr lang="fr-FR" sz="1600" err="1"/>
              <a:t>min_samples_leaf</a:t>
            </a:r>
            <a:r>
              <a:rPr lang="fr-FR" sz="1600"/>
              <a:t>=2</a:t>
            </a:r>
          </a:p>
          <a:p>
            <a:r>
              <a:rPr lang="fr-FR" sz="1600" err="1"/>
              <a:t>Random_state</a:t>
            </a:r>
            <a:r>
              <a:rPr lang="fr-FR" sz="1600"/>
              <a:t>=42, </a:t>
            </a:r>
            <a:r>
              <a:rPr lang="fr-FR" sz="1600" err="1"/>
              <a:t>n_jobs</a:t>
            </a:r>
            <a:r>
              <a:rPr lang="fr-FR" sz="1600"/>
              <a:t>=-1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E222467D-4B79-3CB5-D6A9-48433D76AE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53D998-372D-CCFD-60F5-FF1F374689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23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08DDD57-8451-F101-44B4-0708A8EC03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073" y="2467073"/>
            <a:ext cx="2935492" cy="814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4698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EC272-FE11-6F13-471C-8F75E7EC2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>
            <a:extLst>
              <a:ext uri="{FF2B5EF4-FFF2-40B4-BE49-F238E27FC236}">
                <a16:creationId xmlns:a16="http://schemas.microsoft.com/office/drawing/2014/main" id="{A825FCCD-CBE4-5CA6-791E-BFDDDA663B7F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Entraînement des modèles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963E0439-761C-2A65-2A71-989E6339B4AB}"/>
              </a:ext>
            </a:extLst>
          </p:cNvPr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215839F8-974B-83AE-2B7F-8C5010CBBDE7}"/>
              </a:ext>
            </a:extLst>
          </p:cNvPr>
          <p:cNvSpPr txBox="1"/>
          <p:nvPr/>
        </p:nvSpPr>
        <p:spPr>
          <a:xfrm>
            <a:off x="467544" y="874330"/>
            <a:ext cx="8219256" cy="2785378"/>
          </a:xfrm>
          <a:prstGeom prst="rect">
            <a:avLst/>
          </a:prstGeom>
          <a:noFill/>
        </p:spPr>
        <p:txBody>
          <a:bodyPr wrap="square" lIns="0" numCol="1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2000" b="1"/>
              <a:t>SVR (Support </a:t>
            </a:r>
            <a:r>
              <a:rPr lang="fr-FR" sz="2000" b="1" err="1"/>
              <a:t>Vector</a:t>
            </a:r>
            <a:r>
              <a:rPr lang="fr-FR" sz="2000" b="1"/>
              <a:t> </a:t>
            </a:r>
            <a:r>
              <a:rPr lang="fr-FR" sz="2000" b="1" err="1"/>
              <a:t>Regression</a:t>
            </a:r>
            <a:r>
              <a:rPr lang="fr-FR" sz="2000" b="1"/>
              <a:t>)</a:t>
            </a:r>
          </a:p>
          <a:p>
            <a:r>
              <a:rPr lang="fr-FR" sz="2000"/>
              <a:t>Principe :</a:t>
            </a:r>
          </a:p>
          <a:p>
            <a:r>
              <a:rPr lang="fr-FR" sz="2000"/>
              <a:t>Chercher une fonction qui reste dans une zone de tolérance autour des données. Le modèle se concentre uniquement sur certains points appelés vecteurs de support</a:t>
            </a:r>
          </a:p>
          <a:p>
            <a:pPr>
              <a:spcAft>
                <a:spcPts val="600"/>
              </a:spcAft>
            </a:pPr>
            <a:endParaRPr lang="fr-FR" sz="2000"/>
          </a:p>
          <a:p>
            <a:pPr>
              <a:spcAft>
                <a:spcPts val="600"/>
              </a:spcAft>
            </a:pPr>
            <a:r>
              <a:rPr lang="fr-FR" sz="2000"/>
              <a:t>SVR:</a:t>
            </a:r>
          </a:p>
          <a:p>
            <a:pPr>
              <a:spcAft>
                <a:spcPts val="600"/>
              </a:spcAft>
            </a:pPr>
            <a:r>
              <a:rPr lang="fr-FR" sz="2000"/>
              <a:t>Avec un sous échantillon de 50000 , kernel='</a:t>
            </a:r>
            <a:r>
              <a:rPr lang="fr-FR" sz="2000" err="1"/>
              <a:t>rbf</a:t>
            </a:r>
            <a:r>
              <a:rPr lang="fr-FR" sz="2000"/>
              <a:t>', C=100, epsilon=0.1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5D8E0D64-9436-255A-116C-0E1C743B4D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C9DFCAE-46BB-44EB-DF5B-66D437E1EB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15581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4CB24-81E4-CE05-ACDA-298759A17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5285DD-EAAE-765D-62A9-4EA777034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/>
              <a:t>5- Choix des modèles d’entraînement et comparaison des modèles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A26775B-853B-C8CC-10F5-44DA8BC362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DAA58F7-31F6-152C-2367-5DB2365D97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|          </a:t>
            </a:r>
            <a:r>
              <a:rPr lang="fr-FR" b="1"/>
              <a:t>ISAE-</a:t>
            </a:r>
            <a:r>
              <a:rPr lang="fr-FR" b="1" err="1"/>
              <a:t>Supméca</a:t>
            </a:r>
            <a:r>
              <a:rPr lang="fr-FR"/>
              <a:t> – Institut supérieur de mécanique de Paris          |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69C7EBB-31E5-59EF-E364-2516C34AC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809" y="3116830"/>
            <a:ext cx="8208912" cy="12241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Méthodes d'évaluation et comparaison des modèles</a:t>
            </a:r>
          </a:p>
        </p:txBody>
      </p:sp>
    </p:spTree>
    <p:extLst>
      <p:ext uri="{BB962C8B-B14F-4D97-AF65-F5344CB8AC3E}">
        <p14:creationId xmlns:p14="http://schemas.microsoft.com/office/powerpoint/2010/main" val="17288367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80769-A883-37AD-21AD-F5ADFE1FE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>
            <a:extLst>
              <a:ext uri="{FF2B5EF4-FFF2-40B4-BE49-F238E27FC236}">
                <a16:creationId xmlns:a16="http://schemas.microsoft.com/office/drawing/2014/main" id="{A7C31AD1-8983-943B-AC1E-04D6955F14A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 b="1"/>
              <a:t>Méthodes d’évaluation</a:t>
            </a:r>
            <a:endParaRPr lang="fr-FR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CE6CE2E1-FCEF-C2C3-7921-A8EFFCC20EAE}"/>
              </a:ext>
            </a:extLst>
          </p:cNvPr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01206D20-1A6C-F6A7-1727-B641BB3D75AB}"/>
              </a:ext>
            </a:extLst>
          </p:cNvPr>
          <p:cNvSpPr txBox="1"/>
          <p:nvPr/>
        </p:nvSpPr>
        <p:spPr>
          <a:xfrm>
            <a:off x="467544" y="874330"/>
            <a:ext cx="8219256" cy="3093154"/>
          </a:xfrm>
          <a:prstGeom prst="rect">
            <a:avLst/>
          </a:prstGeom>
          <a:noFill/>
        </p:spPr>
        <p:txBody>
          <a:bodyPr wrap="square" lIns="0" tIns="45720" rIns="91440" bIns="45720" numCol="1" rtlCol="0" anchor="t">
            <a:spAutoFit/>
          </a:bodyPr>
          <a:lstStyle/>
          <a:p>
            <a:pPr>
              <a:spcAft>
                <a:spcPts val="600"/>
              </a:spcAft>
            </a:pPr>
            <a:endParaRPr lang="fr-FR" sz="2000" b="1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/>
              <a:t>R²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200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200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/>
              <a:t>MAE (</a:t>
            </a:r>
            <a:r>
              <a:rPr lang="fr-FR" sz="2000" err="1"/>
              <a:t>Mean</a:t>
            </a:r>
            <a:r>
              <a:rPr lang="fr-FR" sz="2000"/>
              <a:t> </a:t>
            </a:r>
            <a:r>
              <a:rPr lang="fr-FR" sz="2000" err="1"/>
              <a:t>Absolute</a:t>
            </a:r>
            <a:r>
              <a:rPr lang="fr-FR" sz="2000"/>
              <a:t> </a:t>
            </a:r>
            <a:r>
              <a:rPr lang="fr-FR" sz="2000" err="1"/>
              <a:t>Error</a:t>
            </a:r>
            <a:r>
              <a:rPr lang="fr-FR" sz="2000"/>
              <a:t>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200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200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/>
              <a:t>RMSE (Root </a:t>
            </a:r>
            <a:r>
              <a:rPr lang="fr-FR" sz="2000" err="1"/>
              <a:t>Mean</a:t>
            </a:r>
            <a:r>
              <a:rPr lang="fr-FR" sz="2000"/>
              <a:t> </a:t>
            </a:r>
            <a:r>
              <a:rPr lang="fr-FR" sz="2000" err="1"/>
              <a:t>Squarred</a:t>
            </a:r>
            <a:r>
              <a:rPr lang="fr-FR" sz="2000"/>
              <a:t> </a:t>
            </a:r>
            <a:r>
              <a:rPr lang="fr-FR" sz="2000" err="1"/>
              <a:t>Error</a:t>
            </a:r>
            <a:r>
              <a:rPr lang="fr-FR" sz="2000"/>
              <a:t>)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55D23D35-6F44-0C41-AF89-9BF8E0BEE4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 </a:t>
            </a:r>
            <a:r>
              <a:rPr lang="fr-FR" b="1">
                <a:solidFill>
                  <a:srgbClr val="222A35"/>
                </a:solidFill>
              </a:rPr>
              <a:t>ISAE-</a:t>
            </a:r>
            <a:r>
              <a:rPr lang="fr-FR" b="1" err="1">
                <a:solidFill>
                  <a:srgbClr val="222A35"/>
                </a:solidFill>
              </a:rPr>
              <a:t>Supméca</a:t>
            </a:r>
            <a:r>
              <a:rPr lang="fr-FR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D430FF7-0A5E-6930-748B-C2F1C4E67F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26</a:t>
            </a:fld>
            <a:endParaRPr lang="fr-FR"/>
          </a:p>
        </p:txBody>
      </p:sp>
      <p:pic>
        <p:nvPicPr>
          <p:cNvPr id="5" name="Image 4" descr="Une image contenant Police, texte, blanc, diagramme&#10;&#10;Le contenu généré par l’IA peut être incorrect.">
            <a:extLst>
              <a:ext uri="{FF2B5EF4-FFF2-40B4-BE49-F238E27FC236}">
                <a16:creationId xmlns:a16="http://schemas.microsoft.com/office/drawing/2014/main" id="{F5CE10B0-46CF-F9B0-7835-92B94052C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108" y="2105025"/>
            <a:ext cx="3248025" cy="933450"/>
          </a:xfrm>
          <a:prstGeom prst="rect">
            <a:avLst/>
          </a:prstGeom>
        </p:spPr>
      </p:pic>
      <p:pic>
        <p:nvPicPr>
          <p:cNvPr id="6" name="Image 5" descr="Une image contenant texte, Police, blanc, diagramme&#10;&#10;Le contenu généré par l’IA peut être incorrect.">
            <a:extLst>
              <a:ext uri="{FF2B5EF4-FFF2-40B4-BE49-F238E27FC236}">
                <a16:creationId xmlns:a16="http://schemas.microsoft.com/office/drawing/2014/main" id="{9300E2BD-7837-A250-2459-C70CE032D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171" y="3283292"/>
            <a:ext cx="3067050" cy="790575"/>
          </a:xfrm>
          <a:prstGeom prst="rect">
            <a:avLst/>
          </a:prstGeom>
        </p:spPr>
      </p:pic>
      <p:pic>
        <p:nvPicPr>
          <p:cNvPr id="7" name="Image 6" descr="Une image contenant Police, écriture manuscrite, blanc, texte&#10;&#10;Le contenu généré par l’IA peut être incorrect.">
            <a:extLst>
              <a:ext uri="{FF2B5EF4-FFF2-40B4-BE49-F238E27FC236}">
                <a16:creationId xmlns:a16="http://schemas.microsoft.com/office/drawing/2014/main" id="{A69390EA-29D5-AE55-440B-6C63A8E9DD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1447" y="1112678"/>
            <a:ext cx="2476500" cy="73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0461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3FBBE9-C41C-EF9D-6151-BF8A147CF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comparaison des modèles</a:t>
            </a:r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23BD4ECA-3102-EE55-D41E-9D01BEA4CE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0822784"/>
              </p:ext>
            </p:extLst>
          </p:nvPr>
        </p:nvGraphicFramePr>
        <p:xfrm>
          <a:off x="446856" y="639998"/>
          <a:ext cx="8544745" cy="38077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3335">
                  <a:extLst>
                    <a:ext uri="{9D8B030D-6E8A-4147-A177-3AD203B41FA5}">
                      <a16:colId xmlns:a16="http://schemas.microsoft.com/office/drawing/2014/main" val="2398424649"/>
                    </a:ext>
                  </a:extLst>
                </a:gridCol>
                <a:gridCol w="2559628">
                  <a:extLst>
                    <a:ext uri="{9D8B030D-6E8A-4147-A177-3AD203B41FA5}">
                      <a16:colId xmlns:a16="http://schemas.microsoft.com/office/drawing/2014/main" val="1955217237"/>
                    </a:ext>
                  </a:extLst>
                </a:gridCol>
                <a:gridCol w="1098970">
                  <a:extLst>
                    <a:ext uri="{9D8B030D-6E8A-4147-A177-3AD203B41FA5}">
                      <a16:colId xmlns:a16="http://schemas.microsoft.com/office/drawing/2014/main" val="2204264115"/>
                    </a:ext>
                  </a:extLst>
                </a:gridCol>
                <a:gridCol w="1081400">
                  <a:extLst>
                    <a:ext uri="{9D8B030D-6E8A-4147-A177-3AD203B41FA5}">
                      <a16:colId xmlns:a16="http://schemas.microsoft.com/office/drawing/2014/main" val="518826841"/>
                    </a:ext>
                  </a:extLst>
                </a:gridCol>
                <a:gridCol w="2061412">
                  <a:extLst>
                    <a:ext uri="{9D8B030D-6E8A-4147-A177-3AD203B41FA5}">
                      <a16:colId xmlns:a16="http://schemas.microsoft.com/office/drawing/2014/main" val="606424364"/>
                    </a:ext>
                  </a:extLst>
                </a:gridCol>
              </a:tblGrid>
              <a:tr h="607377">
                <a:tc>
                  <a:txBody>
                    <a:bodyPr/>
                    <a:lstStyle/>
                    <a:p>
                      <a:r>
                        <a:rPr lang="fr-FR"/>
                        <a:t>Modèle\Evaluation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RMSE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Temps d’entrainement(s)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134822"/>
                  </a:ext>
                </a:extLst>
              </a:tr>
              <a:tr h="607377">
                <a:tc>
                  <a:txBody>
                    <a:bodyPr/>
                    <a:lstStyle/>
                    <a:p>
                      <a:r>
                        <a:rPr lang="fr-FR"/>
                        <a:t>Régression linéaire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0.5278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/>
                        <a:t>162.5253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/>
                        <a:t>133.9299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2187"/>
                  </a:ext>
                </a:extLst>
              </a:tr>
              <a:tr h="803645">
                <a:tc>
                  <a:txBody>
                    <a:bodyPr/>
                    <a:lstStyle/>
                    <a:p>
                      <a:r>
                        <a:rPr lang="fr-FR"/>
                        <a:t>Régression polynomiale </a:t>
                      </a:r>
                      <a:r>
                        <a:rPr lang="fr-FR" sz="1800" b="0"/>
                        <a:t>MLP</a:t>
                      </a:r>
                      <a:endParaRPr lang="fr-FR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pt-BR"/>
                        <a:t>Poly (d=2) R²: 0.7888</a:t>
                      </a:r>
                    </a:p>
                    <a:p>
                      <a:pPr latinLnBrk="1"/>
                      <a:r>
                        <a:rPr lang="pt-BR"/>
                        <a:t>Poly (d=3) R²: 0.8808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3.15</a:t>
                      </a:r>
                    </a:p>
                    <a:p>
                      <a:r>
                        <a:rPr lang="fr-FR"/>
                        <a:t>61.71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916508"/>
                  </a:ext>
                </a:extLst>
              </a:tr>
              <a:tr h="619572">
                <a:tc>
                  <a:txBody>
                    <a:bodyPr/>
                    <a:lstStyle/>
                    <a:p>
                      <a:r>
                        <a:rPr lang="fr-FR"/>
                        <a:t>Réseaux de neurones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0.9383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58.7341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35.12939</a:t>
                      </a:r>
                    </a:p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88.23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827072"/>
                  </a:ext>
                </a:extLst>
              </a:tr>
              <a:tr h="607377">
                <a:tc>
                  <a:txBody>
                    <a:bodyPr/>
                    <a:lstStyle/>
                    <a:p>
                      <a:r>
                        <a:rPr lang="fr-FR" err="1"/>
                        <a:t>Random</a:t>
                      </a:r>
                      <a:r>
                        <a:rPr lang="fr-FR"/>
                        <a:t> </a:t>
                      </a:r>
                      <a:r>
                        <a:rPr lang="fr-FR" err="1"/>
                        <a:t>forest</a:t>
                      </a:r>
                      <a:r>
                        <a:rPr lang="fr-FR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/>
                        <a:t> 0.9670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/>
                        <a:t>42.9685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/>
                        <a:t>25.3319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/>
                        <a:t>526.19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17684"/>
                  </a:ext>
                </a:extLst>
              </a:tr>
              <a:tr h="358959">
                <a:tc>
                  <a:txBody>
                    <a:bodyPr/>
                    <a:lstStyle/>
                    <a:p>
                      <a:r>
                        <a:rPr lang="fr-FR"/>
                        <a:t>SVR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0.8732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84.2021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51.99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276.08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1311565"/>
                  </a:ext>
                </a:extLst>
              </a:tr>
            </a:tbl>
          </a:graphicData>
        </a:graphic>
      </p:graphicFrame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93B3E85-D371-3911-2639-1A419E7CBCF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</a:t>
            </a:r>
            <a:r>
              <a:rPr lang="fr-FR" b="1">
                <a:solidFill>
                  <a:srgbClr val="222A35"/>
                </a:solidFill>
              </a:rPr>
              <a:t> ISAE-Supméca </a:t>
            </a:r>
            <a:r>
              <a:rPr lang="fr-FR">
                <a:solidFill>
                  <a:srgbClr val="222A35"/>
                </a:solidFill>
              </a:rPr>
              <a:t>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B641331-32E4-06F6-A6D4-52235E45D8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07903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8B0C3-8C9B-C2DC-1269-3C62DECB7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8BA57D-C43D-6D62-7A38-13DCF30ADA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/>
              <a:t>6-Conclusion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FD64DCD-0253-A4EF-C3EC-B2A96CBF51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28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AEC9DEC-352A-241A-9D57-238BE201D1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|          </a:t>
            </a:r>
            <a:r>
              <a:rPr lang="fr-FR" b="1"/>
              <a:t>ISAE-</a:t>
            </a:r>
            <a:r>
              <a:rPr lang="fr-FR" b="1" err="1"/>
              <a:t>Supméca</a:t>
            </a:r>
            <a:r>
              <a:rPr lang="fr-FR"/>
              <a:t> – Institut supérieur de mécanique de Paris          |</a:t>
            </a:r>
          </a:p>
        </p:txBody>
      </p:sp>
    </p:spTree>
    <p:extLst>
      <p:ext uri="{BB962C8B-B14F-4D97-AF65-F5344CB8AC3E}">
        <p14:creationId xmlns:p14="http://schemas.microsoft.com/office/powerpoint/2010/main" val="8262396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B5164D-909F-8F05-320D-14120251B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310" y="347241"/>
            <a:ext cx="8229600" cy="627534"/>
          </a:xfrm>
        </p:spPr>
        <p:txBody>
          <a:bodyPr/>
          <a:lstStyle/>
          <a:p>
            <a:r>
              <a:rPr lang="fr-FR">
                <a:ea typeface="Source Sans Pro Black"/>
              </a:rPr>
              <a:t>Choix du modèle: </a:t>
            </a:r>
            <a:r>
              <a:rPr lang="fr-FR" err="1">
                <a:ea typeface="Source Sans Pro Black"/>
              </a:rPr>
              <a:t>Random</a:t>
            </a:r>
            <a:r>
              <a:rPr lang="fr-FR">
                <a:ea typeface="Source Sans Pro Black"/>
              </a:rPr>
              <a:t> </a:t>
            </a:r>
            <a:r>
              <a:rPr lang="fr-FR" err="1">
                <a:ea typeface="Source Sans Pro Black"/>
              </a:rPr>
              <a:t>forest</a:t>
            </a:r>
            <a:endParaRPr lang="fr-FR" err="1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DA1DAE-F0A8-B993-510F-C3B02A6E4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9582"/>
            <a:ext cx="8222366" cy="4601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/>
              <a:t>Le modèle reste cependant peu satisfaisant avec un score de 0.967</a:t>
            </a:r>
            <a:endParaRPr lang="fr-FR">
              <a:ea typeface="Source Sans Pro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AC490B-9AAC-FA61-9067-D813EB352B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>
                <a:solidFill>
                  <a:schemeClr val="tx2"/>
                </a:solidFill>
              </a:rPr>
              <a:t>|</a:t>
            </a:r>
            <a:r>
              <a:rPr lang="fr-FR">
                <a:solidFill>
                  <a:srgbClr val="222A35"/>
                </a:solidFill>
              </a:rPr>
              <a:t>         </a:t>
            </a:r>
            <a:r>
              <a:rPr lang="fr-FR" b="1">
                <a:solidFill>
                  <a:srgbClr val="222A35"/>
                </a:solidFill>
              </a:rPr>
              <a:t> ISAE-Supméca </a:t>
            </a:r>
            <a:r>
              <a:rPr lang="fr-FR">
                <a:solidFill>
                  <a:srgbClr val="222A35"/>
                </a:solidFill>
              </a:rPr>
              <a:t>– Institut supérieur de mécanique de Paris          </a:t>
            </a:r>
            <a:r>
              <a:rPr lang="fr-FR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F94A370-BBA0-0729-1236-9620BABDAA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29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87080B2-5D72-4E61-7AAF-9702C3E95EC1}"/>
              </a:ext>
            </a:extLst>
          </p:cNvPr>
          <p:cNvSpPr txBox="1"/>
          <p:nvPr/>
        </p:nvSpPr>
        <p:spPr>
          <a:xfrm>
            <a:off x="455050" y="1644469"/>
            <a:ext cx="6969124" cy="29854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 b="1">
                <a:ea typeface="Source Sans Pro"/>
              </a:rPr>
              <a:t>Points d'améliorations :</a:t>
            </a:r>
            <a:endParaRPr lang="fr-FR"/>
          </a:p>
          <a:p>
            <a:endParaRPr lang="fr-FR" sz="2000" b="1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r>
              <a:rPr lang="fr-FR">
                <a:ea typeface="Source Sans Pro"/>
              </a:rPr>
              <a:t>Revenir sur la partie </a:t>
            </a:r>
            <a:r>
              <a:rPr lang="fr-FR" err="1">
                <a:ea typeface="Source Sans Pro"/>
              </a:rPr>
              <a:t>feature</a:t>
            </a:r>
            <a:r>
              <a:rPr lang="fr-FR">
                <a:ea typeface="Source Sans Pro"/>
              </a:rPr>
              <a:t> engineering</a:t>
            </a:r>
          </a:p>
          <a:p>
            <a:pPr marL="285750" indent="-285750">
              <a:buFont typeface="Arial"/>
              <a:buChar char="•"/>
            </a:pPr>
            <a:endParaRPr lang="fr-FR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endParaRPr lang="fr-FR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r>
              <a:rPr lang="fr-FR">
                <a:ea typeface="Source Sans Pro"/>
              </a:rPr>
              <a:t>Recherche d'un nouveau modèle d'apprentissage non traité en cours</a:t>
            </a:r>
          </a:p>
          <a:p>
            <a:pPr marL="285750" indent="-285750">
              <a:buFont typeface="Arial"/>
              <a:buChar char="•"/>
            </a:pPr>
            <a:endParaRPr lang="fr-FR">
              <a:ea typeface="Source Sans Pro"/>
            </a:endParaRPr>
          </a:p>
          <a:p>
            <a:endParaRPr lang="fr-FR" sz="2000" b="1">
              <a:ea typeface="Source Sans Pro"/>
            </a:endParaRPr>
          </a:p>
          <a:p>
            <a:endParaRPr lang="fr-FR" sz="2000" b="1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9805543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Connecteur droit 16"/>
          <p:cNvCxnSpPr/>
          <p:nvPr/>
        </p:nvCxnSpPr>
        <p:spPr>
          <a:xfrm flipV="1">
            <a:off x="2699792" y="2913433"/>
            <a:ext cx="0" cy="1512168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ZoneTexte 1"/>
          <p:cNvSpPr txBox="1"/>
          <p:nvPr/>
        </p:nvSpPr>
        <p:spPr>
          <a:xfrm>
            <a:off x="2932657" y="2945725"/>
            <a:ext cx="322351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/>
              <a:t>ISAE-</a:t>
            </a:r>
            <a:r>
              <a:rPr lang="fr-FR" sz="1200" b="1" err="1"/>
              <a:t>Supméca</a:t>
            </a:r>
            <a:r>
              <a:rPr lang="fr-FR" sz="1200" b="1"/>
              <a:t> </a:t>
            </a:r>
          </a:p>
          <a:p>
            <a:pPr algn="ctr"/>
            <a:r>
              <a:rPr lang="fr-FR" sz="1200"/>
              <a:t>Institut supérieur de mécanique de Paris</a:t>
            </a:r>
          </a:p>
          <a:p>
            <a:pPr algn="ctr"/>
            <a:r>
              <a:rPr lang="fr-FR" sz="1200"/>
              <a:t>3 rue Fernand Hainaut 93407 Saint-Ouen Cedex  </a:t>
            </a:r>
          </a:p>
          <a:p>
            <a:pPr algn="ctr">
              <a:spcAft>
                <a:spcPts val="1200"/>
              </a:spcAft>
            </a:pPr>
            <a:r>
              <a:rPr lang="fr-FR" sz="1200"/>
              <a:t>Tél. 01 49 45 29 00  –  </a:t>
            </a:r>
            <a:r>
              <a:rPr lang="fr-FR" sz="1200" b="1"/>
              <a:t>www.isae-supmeca.fr</a:t>
            </a:r>
          </a:p>
          <a:p>
            <a:pPr algn="ctr"/>
            <a:r>
              <a:rPr lang="fr-FR" sz="1200">
                <a:solidFill>
                  <a:schemeClr val="bg1">
                    <a:lumMod val="50000"/>
                    <a:lumOff val="50000"/>
                  </a:schemeClr>
                </a:solidFill>
              </a:rPr>
              <a:t>Ministère de l'Enseignement supérieur</a:t>
            </a:r>
            <a:br>
              <a:rPr lang="fr-FR" sz="1200">
                <a:solidFill>
                  <a:schemeClr val="bg1">
                    <a:lumMod val="50000"/>
                    <a:lumOff val="50000"/>
                  </a:schemeClr>
                </a:solidFill>
              </a:rPr>
            </a:br>
            <a:r>
              <a:rPr lang="fr-FR" sz="1200">
                <a:solidFill>
                  <a:schemeClr val="bg1">
                    <a:lumMod val="50000"/>
                    <a:lumOff val="50000"/>
                  </a:schemeClr>
                </a:solidFill>
              </a:rPr>
              <a:t>et de la Recherche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7" y="3003798"/>
            <a:ext cx="1656183" cy="1242137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3344115"/>
            <a:ext cx="1728192" cy="641096"/>
          </a:xfrm>
          <a:prstGeom prst="rect">
            <a:avLst/>
          </a:prstGeom>
        </p:spPr>
      </p:pic>
      <p:cxnSp>
        <p:nvCxnSpPr>
          <p:cNvPr id="10" name="Connecteur droit 9"/>
          <p:cNvCxnSpPr/>
          <p:nvPr/>
        </p:nvCxnSpPr>
        <p:spPr>
          <a:xfrm flipV="1">
            <a:off x="6372200" y="2913433"/>
            <a:ext cx="0" cy="1512168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A0165818-AA85-F89F-7550-7BABF1F0925C}"/>
              </a:ext>
            </a:extLst>
          </p:cNvPr>
          <p:cNvSpPr txBox="1"/>
          <p:nvPr/>
        </p:nvSpPr>
        <p:spPr>
          <a:xfrm>
            <a:off x="1178202" y="1629273"/>
            <a:ext cx="72822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000">
                <a:latin typeface="+mj-lt"/>
              </a:rPr>
              <a:t>Merci pour votre attention</a:t>
            </a:r>
          </a:p>
        </p:txBody>
      </p:sp>
    </p:spTree>
    <p:extLst>
      <p:ext uri="{BB962C8B-B14F-4D97-AF65-F5344CB8AC3E}">
        <p14:creationId xmlns:p14="http://schemas.microsoft.com/office/powerpoint/2010/main" val="2869127026"/>
      </p:ext>
    </p:extLst>
  </p:cSld>
  <p:clrMapOvr>
    <a:masterClrMapping/>
  </p:clrMapOvr>
</p:sld>
</file>

<file path=ppt/theme/theme1.xml><?xml version="1.0" encoding="utf-8"?>
<a:theme xmlns:a="http://schemas.openxmlformats.org/drawingml/2006/main" name="2_Conception personnalisée">
  <a:themeElements>
    <a:clrScheme name="Supméca">
      <a:dk1>
        <a:srgbClr val="222A35"/>
      </a:dk1>
      <a:lt1>
        <a:srgbClr val="F2F2F2"/>
      </a:lt1>
      <a:dk2>
        <a:srgbClr val="F45F0C"/>
      </a:dk2>
      <a:lt2>
        <a:srgbClr val="F2F2F2"/>
      </a:lt2>
      <a:accent1>
        <a:srgbClr val="F45F0C"/>
      </a:accent1>
      <a:accent2>
        <a:srgbClr val="F68140"/>
      </a:accent2>
      <a:accent3>
        <a:srgbClr val="F8A170"/>
      </a:accent3>
      <a:accent4>
        <a:srgbClr val="FABB98"/>
      </a:accent4>
      <a:accent5>
        <a:srgbClr val="FCDDCC"/>
      </a:accent5>
      <a:accent6>
        <a:srgbClr val="FEEFE6"/>
      </a:accent6>
      <a:hlink>
        <a:srgbClr val="F45F0C"/>
      </a:hlink>
      <a:folHlink>
        <a:srgbClr val="B74708"/>
      </a:folHlink>
    </a:clrScheme>
    <a:fontScheme name="Supméca">
      <a:majorFont>
        <a:latin typeface="Source Sans Pro Black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Conception personnalisée">
  <a:themeElements>
    <a:clrScheme name="Supméca">
      <a:dk1>
        <a:srgbClr val="222A35"/>
      </a:dk1>
      <a:lt1>
        <a:srgbClr val="F2F2F2"/>
      </a:lt1>
      <a:dk2>
        <a:srgbClr val="F45F0C"/>
      </a:dk2>
      <a:lt2>
        <a:srgbClr val="F2F2F2"/>
      </a:lt2>
      <a:accent1>
        <a:srgbClr val="F45F0C"/>
      </a:accent1>
      <a:accent2>
        <a:srgbClr val="F68140"/>
      </a:accent2>
      <a:accent3>
        <a:srgbClr val="F8A170"/>
      </a:accent3>
      <a:accent4>
        <a:srgbClr val="FABB98"/>
      </a:accent4>
      <a:accent5>
        <a:srgbClr val="FCDDCC"/>
      </a:accent5>
      <a:accent6>
        <a:srgbClr val="FEEFE6"/>
      </a:accent6>
      <a:hlink>
        <a:srgbClr val="F45F0C"/>
      </a:hlink>
      <a:folHlink>
        <a:srgbClr val="B74708"/>
      </a:folHlink>
    </a:clrScheme>
    <a:fontScheme name="Supméca">
      <a:majorFont>
        <a:latin typeface="Source Sans Pro Black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onception personnalisée">
  <a:themeElements>
    <a:clrScheme name="Supméca">
      <a:dk1>
        <a:srgbClr val="222A35"/>
      </a:dk1>
      <a:lt1>
        <a:srgbClr val="F2F2F2"/>
      </a:lt1>
      <a:dk2>
        <a:srgbClr val="F45F0C"/>
      </a:dk2>
      <a:lt2>
        <a:srgbClr val="F2F2F2"/>
      </a:lt2>
      <a:accent1>
        <a:srgbClr val="F45F0C"/>
      </a:accent1>
      <a:accent2>
        <a:srgbClr val="F68140"/>
      </a:accent2>
      <a:accent3>
        <a:srgbClr val="F8A170"/>
      </a:accent3>
      <a:accent4>
        <a:srgbClr val="FABB98"/>
      </a:accent4>
      <a:accent5>
        <a:srgbClr val="FCDDCC"/>
      </a:accent5>
      <a:accent6>
        <a:srgbClr val="FEEFE6"/>
      </a:accent6>
      <a:hlink>
        <a:srgbClr val="F45F0C"/>
      </a:hlink>
      <a:folHlink>
        <a:srgbClr val="B74708"/>
      </a:folHlink>
    </a:clrScheme>
    <a:fontScheme name="Supméca">
      <a:majorFont>
        <a:latin typeface="Source Sans Pro Black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27CB75B1AB454C82BE1D96A54BA687" ma:contentTypeVersion="0" ma:contentTypeDescription="Crée un document." ma:contentTypeScope="" ma:versionID="3f788c1826e4564daa0199459ca8fcc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b09c1ba23edfaa45a5e9d385267c9b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4A54269-AC35-4CB2-A61C-EFA2C60BFFBC}">
  <ds:schemaRefs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terms/"/>
    <ds:schemaRef ds:uri="http://purl.org/dc/elements/1.1/"/>
    <ds:schemaRef ds:uri="http://purl.org/dc/dcmitype/"/>
    <ds:schemaRef ds:uri="http://schemas.microsoft.com/office/2006/documentManagement/type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14393404-06F0-4FBF-9945-5C8B82874DD6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B439AAA-E8AF-4024-9FFF-D94C9BF6511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1426</Words>
  <Application>Microsoft Macintosh PowerPoint</Application>
  <PresentationFormat>Affichage à l'écran (16:9)</PresentationFormat>
  <Paragraphs>250</Paragraphs>
  <Slides>30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30</vt:i4>
      </vt:variant>
    </vt:vector>
  </HeadingPairs>
  <TitlesOfParts>
    <vt:vector size="38" baseType="lpstr">
      <vt:lpstr>Cambria Math</vt:lpstr>
      <vt:lpstr>Source Sans Pro</vt:lpstr>
      <vt:lpstr>Arial</vt:lpstr>
      <vt:lpstr>Source Sans Pro Black</vt:lpstr>
      <vt:lpstr>Calibri</vt:lpstr>
      <vt:lpstr>2_Conception personnalisée</vt:lpstr>
      <vt:lpstr>3_Conception personnalisée</vt:lpstr>
      <vt:lpstr>1_Conception personnalisée</vt:lpstr>
      <vt:lpstr>Présentation PowerPoint</vt:lpstr>
      <vt:lpstr>Sommaire</vt:lpstr>
      <vt:lpstr>1- Introduction  </vt:lpstr>
      <vt:lpstr>Présentation du sujet</vt:lpstr>
      <vt:lpstr>2- Chargement des données et description du dataset </vt:lpstr>
      <vt:lpstr>Dataset</vt:lpstr>
      <vt:lpstr>3- Exploration et préparation des données </vt:lpstr>
      <vt:lpstr>Analyse des données</vt:lpstr>
      <vt:lpstr>Visualisation</vt:lpstr>
      <vt:lpstr>Visualisation</vt:lpstr>
      <vt:lpstr>Visualisation</vt:lpstr>
      <vt:lpstr>Visualisation</vt:lpstr>
      <vt:lpstr>Feature engineering</vt:lpstr>
      <vt:lpstr>Préparation des données</vt:lpstr>
      <vt:lpstr>4- Définition du problème d'apprentissage </vt:lpstr>
      <vt:lpstr>Problème d'apprentissage</vt:lpstr>
      <vt:lpstr>5- Choix des modèles d’entraînement et comparaison des modèles </vt:lpstr>
      <vt:lpstr>Choix des modèles d’apprentissage</vt:lpstr>
      <vt:lpstr>5- Choix des modèles d’entraînement et comparaison des modèles </vt:lpstr>
      <vt:lpstr>Entraînement des modèles</vt:lpstr>
      <vt:lpstr>Entraînement des modèles</vt:lpstr>
      <vt:lpstr>Entraînement des modèles</vt:lpstr>
      <vt:lpstr>Entraînement des modèles</vt:lpstr>
      <vt:lpstr>Entraînement des modèles</vt:lpstr>
      <vt:lpstr>5- Choix des modèles d’entraînement et comparaison des modèles </vt:lpstr>
      <vt:lpstr>Méthodes d’évaluation</vt:lpstr>
      <vt:lpstr>comparaison des modèles</vt:lpstr>
      <vt:lpstr>6-Conclusion</vt:lpstr>
      <vt:lpstr>Choix du modèle: Random forest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LECHARTIER Antoine</dc:creator>
  <cp:lastModifiedBy>ASSEF Linda</cp:lastModifiedBy>
  <cp:revision>2</cp:revision>
  <dcterms:created xsi:type="dcterms:W3CDTF">2018-06-29T13:21:24Z</dcterms:created>
  <dcterms:modified xsi:type="dcterms:W3CDTF">2026-09-12T11:12:47Z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0x010100D827CB75B1AB454C82BE1D96A54BA687</vt:lpwstr>
  </property>
</Properties>
</file>